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12" r:id="rId2"/>
    <p:sldId id="334" r:id="rId3"/>
    <p:sldId id="311" r:id="rId4"/>
    <p:sldId id="335" r:id="rId5"/>
    <p:sldId id="317" r:id="rId6"/>
    <p:sldId id="318" r:id="rId7"/>
    <p:sldId id="319" r:id="rId8"/>
    <p:sldId id="320" r:id="rId9"/>
    <p:sldId id="321" r:id="rId10"/>
    <p:sldId id="324" r:id="rId11"/>
    <p:sldId id="325" r:id="rId12"/>
    <p:sldId id="326" r:id="rId13"/>
    <p:sldId id="323" r:id="rId14"/>
    <p:sldId id="327" r:id="rId15"/>
    <p:sldId id="331" r:id="rId16"/>
    <p:sldId id="330" r:id="rId17"/>
    <p:sldId id="329" r:id="rId18"/>
    <p:sldId id="328" r:id="rId19"/>
    <p:sldId id="337" r:id="rId20"/>
    <p:sldId id="336" r:id="rId21"/>
    <p:sldId id="286" r:id="rId22"/>
    <p:sldId id="333" r:id="rId23"/>
    <p:sldId id="332" r:id="rId24"/>
    <p:sldId id="315" r:id="rId25"/>
  </p:sldIdLst>
  <p:sldSz cx="9144000" cy="6858000" type="screen4x3"/>
  <p:notesSz cx="6705600" cy="8991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5CDC1D-8248-4082-B7BA-941C624CBD80}" v="6" dt="2026-04-21T07:07:28.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92165" autoAdjust="0"/>
  </p:normalViewPr>
  <p:slideViewPr>
    <p:cSldViewPr>
      <p:cViewPr varScale="1">
        <p:scale>
          <a:sx n="82" d="100"/>
          <a:sy n="82" d="100"/>
        </p:scale>
        <p:origin x="145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05760" cy="451142"/>
          </a:xfrm>
          <a:prstGeom prst="rect">
            <a:avLst/>
          </a:prstGeom>
        </p:spPr>
        <p:txBody>
          <a:bodyPr vert="horz" lIns="89693" tIns="44847" rIns="89693" bIns="44847" rtlCol="0"/>
          <a:lstStyle>
            <a:lvl1pPr algn="l">
              <a:defRPr sz="1200"/>
            </a:lvl1pPr>
          </a:lstStyle>
          <a:p>
            <a:endParaRPr lang="en-US"/>
          </a:p>
        </p:txBody>
      </p:sp>
      <p:sp>
        <p:nvSpPr>
          <p:cNvPr id="3" name="Date Placeholder 2"/>
          <p:cNvSpPr>
            <a:spLocks noGrp="1"/>
          </p:cNvSpPr>
          <p:nvPr>
            <p:ph type="dt" idx="1"/>
          </p:nvPr>
        </p:nvSpPr>
        <p:spPr>
          <a:xfrm>
            <a:off x="3798288" y="0"/>
            <a:ext cx="2905760" cy="451142"/>
          </a:xfrm>
          <a:prstGeom prst="rect">
            <a:avLst/>
          </a:prstGeom>
        </p:spPr>
        <p:txBody>
          <a:bodyPr vert="horz" lIns="89693" tIns="44847" rIns="89693" bIns="44847" rtlCol="0"/>
          <a:lstStyle>
            <a:lvl1pPr algn="r">
              <a:defRPr sz="1200"/>
            </a:lvl1pPr>
          </a:lstStyle>
          <a:p>
            <a:fld id="{D9B381FF-089B-4F60-8FFC-0682E8EE6B19}" type="datetimeFigureOut">
              <a:rPr lang="en-US" smtClean="0"/>
              <a:t>4/21/2026</a:t>
            </a:fld>
            <a:endParaRPr lang="en-US"/>
          </a:p>
        </p:txBody>
      </p:sp>
      <p:sp>
        <p:nvSpPr>
          <p:cNvPr id="4" name="Slide Image Placeholder 3"/>
          <p:cNvSpPr>
            <a:spLocks noGrp="1" noRot="1" noChangeAspect="1"/>
          </p:cNvSpPr>
          <p:nvPr>
            <p:ph type="sldImg" idx="2"/>
          </p:nvPr>
        </p:nvSpPr>
        <p:spPr>
          <a:xfrm>
            <a:off x="1330325" y="1123950"/>
            <a:ext cx="4044950" cy="3035300"/>
          </a:xfrm>
          <a:prstGeom prst="rect">
            <a:avLst/>
          </a:prstGeom>
          <a:noFill/>
          <a:ln w="12700">
            <a:solidFill>
              <a:prstClr val="black"/>
            </a:solidFill>
          </a:ln>
        </p:spPr>
        <p:txBody>
          <a:bodyPr vert="horz" lIns="89693" tIns="44847" rIns="89693" bIns="44847" rtlCol="0" anchor="ctr"/>
          <a:lstStyle/>
          <a:p>
            <a:endParaRPr lang="en-US"/>
          </a:p>
        </p:txBody>
      </p:sp>
      <p:sp>
        <p:nvSpPr>
          <p:cNvPr id="5" name="Notes Placeholder 4"/>
          <p:cNvSpPr>
            <a:spLocks noGrp="1"/>
          </p:cNvSpPr>
          <p:nvPr>
            <p:ph type="body" sz="quarter" idx="3"/>
          </p:nvPr>
        </p:nvSpPr>
        <p:spPr>
          <a:xfrm>
            <a:off x="670560" y="4327207"/>
            <a:ext cx="5364480" cy="3540443"/>
          </a:xfrm>
          <a:prstGeom prst="rect">
            <a:avLst/>
          </a:prstGeom>
        </p:spPr>
        <p:txBody>
          <a:bodyPr vert="horz" lIns="89693" tIns="44847" rIns="89693" bIns="448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540460"/>
            <a:ext cx="2905760" cy="451141"/>
          </a:xfrm>
          <a:prstGeom prst="rect">
            <a:avLst/>
          </a:prstGeom>
        </p:spPr>
        <p:txBody>
          <a:bodyPr vert="horz" lIns="89693" tIns="44847" rIns="89693" bIns="44847" rtlCol="0" anchor="b"/>
          <a:lstStyle>
            <a:lvl1pPr algn="l">
              <a:defRPr sz="1200"/>
            </a:lvl1pPr>
          </a:lstStyle>
          <a:p>
            <a:endParaRPr lang="en-US"/>
          </a:p>
        </p:txBody>
      </p:sp>
      <p:sp>
        <p:nvSpPr>
          <p:cNvPr id="7" name="Slide Number Placeholder 6"/>
          <p:cNvSpPr>
            <a:spLocks noGrp="1"/>
          </p:cNvSpPr>
          <p:nvPr>
            <p:ph type="sldNum" sz="quarter" idx="5"/>
          </p:nvPr>
        </p:nvSpPr>
        <p:spPr>
          <a:xfrm>
            <a:off x="3798288" y="8540460"/>
            <a:ext cx="2905760" cy="451141"/>
          </a:xfrm>
          <a:prstGeom prst="rect">
            <a:avLst/>
          </a:prstGeom>
        </p:spPr>
        <p:txBody>
          <a:bodyPr vert="horz" lIns="89693" tIns="44847" rIns="89693" bIns="44847" rtlCol="0" anchor="b"/>
          <a:lstStyle>
            <a:lvl1pPr algn="r">
              <a:defRPr sz="1200"/>
            </a:lvl1pPr>
          </a:lstStyle>
          <a:p>
            <a:fld id="{F66E0B54-8FA0-4833-A9FD-DF8D26DC2994}" type="slidenum">
              <a:rPr lang="en-US" smtClean="0"/>
              <a:t>‹#›</a:t>
            </a:fld>
            <a:endParaRPr lang="en-US"/>
          </a:p>
        </p:txBody>
      </p:sp>
    </p:spTree>
    <p:extLst>
      <p:ext uri="{BB962C8B-B14F-4D97-AF65-F5344CB8AC3E}">
        <p14:creationId xmlns:p14="http://schemas.microsoft.com/office/powerpoint/2010/main" val="413469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1</a:t>
            </a:fld>
            <a:endParaRPr lang="en-US"/>
          </a:p>
        </p:txBody>
      </p:sp>
    </p:spTree>
    <p:extLst>
      <p:ext uri="{BB962C8B-B14F-4D97-AF65-F5344CB8AC3E}">
        <p14:creationId xmlns:p14="http://schemas.microsoft.com/office/powerpoint/2010/main" val="1195194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8</a:t>
            </a:fld>
            <a:endParaRPr lang="en-US"/>
          </a:p>
        </p:txBody>
      </p:sp>
    </p:spTree>
    <p:extLst>
      <p:ext uri="{BB962C8B-B14F-4D97-AF65-F5344CB8AC3E}">
        <p14:creationId xmlns:p14="http://schemas.microsoft.com/office/powerpoint/2010/main" val="175340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9</a:t>
            </a:fld>
            <a:endParaRPr lang="en-US"/>
          </a:p>
        </p:txBody>
      </p:sp>
    </p:spTree>
    <p:extLst>
      <p:ext uri="{BB962C8B-B14F-4D97-AF65-F5344CB8AC3E}">
        <p14:creationId xmlns:p14="http://schemas.microsoft.com/office/powerpoint/2010/main" val="2917722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10</a:t>
            </a:fld>
            <a:endParaRPr lang="en-US"/>
          </a:p>
        </p:txBody>
      </p:sp>
    </p:spTree>
    <p:extLst>
      <p:ext uri="{BB962C8B-B14F-4D97-AF65-F5344CB8AC3E}">
        <p14:creationId xmlns:p14="http://schemas.microsoft.com/office/powerpoint/2010/main" val="571292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11</a:t>
            </a:fld>
            <a:endParaRPr lang="en-US"/>
          </a:p>
        </p:txBody>
      </p:sp>
    </p:spTree>
    <p:extLst>
      <p:ext uri="{BB962C8B-B14F-4D97-AF65-F5344CB8AC3E}">
        <p14:creationId xmlns:p14="http://schemas.microsoft.com/office/powerpoint/2010/main" val="1998468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E0B54-8FA0-4833-A9FD-DF8D26DC2994}" type="slidenum">
              <a:rPr lang="en-US" smtClean="0"/>
              <a:t>13</a:t>
            </a:fld>
            <a:endParaRPr lang="en-US"/>
          </a:p>
        </p:txBody>
      </p:sp>
    </p:spTree>
    <p:extLst>
      <p:ext uri="{BB962C8B-B14F-4D97-AF65-F5344CB8AC3E}">
        <p14:creationId xmlns:p14="http://schemas.microsoft.com/office/powerpoint/2010/main" val="535712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4/21/2026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4/21/2026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A3C4F8-7E1B-826C-024E-06B0873AAC42}"/>
              </a:ext>
            </a:extLst>
          </p:cNvPr>
          <p:cNvSpPr txBox="1">
            <a:spLocks/>
          </p:cNvSpPr>
          <p:nvPr/>
        </p:nvSpPr>
        <p:spPr>
          <a:xfrm>
            <a:off x="1617550" y="366185"/>
            <a:ext cx="7397496" cy="1625352"/>
          </a:xfrm>
          <a:prstGeom prst="rect">
            <a:avLst/>
          </a:prstGeom>
        </p:spPr>
        <p:txBody>
          <a:bodyPr vert="horz" lIns="0" rIns="0" bIns="0" anchor="b">
            <a:normAutofit fontScale="75000" lnSpcReduction="2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NBKR Institute of Science and Technology, Vidyanagar</a:t>
            </a:r>
            <a:br>
              <a:rPr lang="en-US" sz="2800" b="1" dirty="0">
                <a:latin typeface="Times New Roman" panose="02020603050405020304" pitchFamily="18" charset="0"/>
                <a:cs typeface="Times New Roman" panose="02020603050405020304" pitchFamily="18" charset="0"/>
              </a:rPr>
            </a:br>
            <a:r>
              <a:rPr lang="en-US" sz="2500" b="1" dirty="0">
                <a:latin typeface="Times New Roman" panose="02020603050405020304" pitchFamily="18" charset="0"/>
                <a:cs typeface="Times New Roman" panose="02020603050405020304" pitchFamily="18" charset="0"/>
              </a:rPr>
              <a:t>                                           </a:t>
            </a:r>
            <a:r>
              <a:rPr lang="en-US" sz="2700" b="1" dirty="0">
                <a:latin typeface="Times New Roman" panose="02020603050405020304" pitchFamily="18" charset="0"/>
                <a:cs typeface="Times New Roman" panose="02020603050405020304" pitchFamily="18" charset="0"/>
              </a:rPr>
              <a:t>(Autonomous)</a:t>
            </a:r>
            <a:br>
              <a:rPr lang="en-US" sz="27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3200" b="1" dirty="0">
                <a:solidFill>
                  <a:srgbClr val="7030A0"/>
                </a:solidFill>
                <a:latin typeface="Times New Roman" panose="02020603050405020304" pitchFamily="18" charset="0"/>
                <a:cs typeface="Times New Roman" panose="02020603050405020304" pitchFamily="18" charset="0"/>
              </a:rPr>
              <a:t>Department Computer Science and Engineering</a:t>
            </a:r>
            <a:br>
              <a:rPr lang="en-IN" sz="3200" b="1" dirty="0">
                <a:solidFill>
                  <a:srgbClr val="7030A0"/>
                </a:solidFill>
                <a:latin typeface="Times New Roman" panose="02020603050405020304" pitchFamily="18" charset="0"/>
                <a:cs typeface="Times New Roman" panose="02020603050405020304" pitchFamily="18" charset="0"/>
              </a:rPr>
            </a:br>
            <a:endParaRPr lang="en-IN" sz="3200" dirty="0"/>
          </a:p>
        </p:txBody>
      </p:sp>
      <p:sp>
        <p:nvSpPr>
          <p:cNvPr id="7" name="Subtitle 2">
            <a:extLst>
              <a:ext uri="{FF2B5EF4-FFF2-40B4-BE49-F238E27FC236}">
                <a16:creationId xmlns:a16="http://schemas.microsoft.com/office/drawing/2014/main" id="{0D9F16F4-4940-AEA0-2443-A183C6DA8882}"/>
              </a:ext>
            </a:extLst>
          </p:cNvPr>
          <p:cNvSpPr txBox="1">
            <a:spLocks/>
          </p:cNvSpPr>
          <p:nvPr/>
        </p:nvSpPr>
        <p:spPr>
          <a:xfrm>
            <a:off x="152401" y="2598742"/>
            <a:ext cx="8862645" cy="533400"/>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lnSpc>
                <a:spcPct val="150000"/>
              </a:lnSpc>
              <a:buNone/>
            </a:pPr>
            <a:r>
              <a:rPr lang="en-US" sz="2400" b="1" dirty="0">
                <a:latin typeface="Times New Roman" panose="02020603050405020304" pitchFamily="18" charset="0"/>
                <a:cs typeface="Times New Roman" panose="02020603050405020304" pitchFamily="18" charset="0"/>
              </a:rPr>
              <a:t> Web-Based Predictive Analytics System For Stock Market Trends</a:t>
            </a:r>
            <a:endParaRPr lang="en-IN"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2781BD1-91C1-CD6B-ECCB-2312C2898053}"/>
              </a:ext>
            </a:extLst>
          </p:cNvPr>
          <p:cNvPicPr>
            <a:picLocks noChangeAspect="1"/>
          </p:cNvPicPr>
          <p:nvPr/>
        </p:nvPicPr>
        <p:blipFill>
          <a:blip r:embed="rId3"/>
          <a:stretch>
            <a:fillRect/>
          </a:stretch>
        </p:blipFill>
        <p:spPr>
          <a:xfrm>
            <a:off x="152400" y="366185"/>
            <a:ext cx="1587979" cy="1625351"/>
          </a:xfrm>
          <a:prstGeom prst="rect">
            <a:avLst/>
          </a:prstGeom>
        </p:spPr>
      </p:pic>
      <p:sp>
        <p:nvSpPr>
          <p:cNvPr id="9" name="TextBox 8">
            <a:extLst>
              <a:ext uri="{FF2B5EF4-FFF2-40B4-BE49-F238E27FC236}">
                <a16:creationId xmlns:a16="http://schemas.microsoft.com/office/drawing/2014/main" id="{98B6D089-D1CF-4458-191E-729E6B6E9600}"/>
              </a:ext>
            </a:extLst>
          </p:cNvPr>
          <p:cNvSpPr txBox="1"/>
          <p:nvPr/>
        </p:nvSpPr>
        <p:spPr>
          <a:xfrm>
            <a:off x="286378" y="3943135"/>
            <a:ext cx="8514303" cy="923330"/>
          </a:xfrm>
          <a:prstGeom prst="rect">
            <a:avLst/>
          </a:prstGeom>
          <a:noFill/>
        </p:spPr>
        <p:txBody>
          <a:bodyPr wrap="square">
            <a:spAutoFit/>
          </a:bodyPr>
          <a:lstStyle/>
          <a:p>
            <a:pPr algn="ctr"/>
            <a:r>
              <a:rPr lang="en-US" b="1" dirty="0">
                <a:solidFill>
                  <a:srgbClr val="002060"/>
                </a:solidFill>
                <a:latin typeface="Times New Roman" panose="02020603050405020304" pitchFamily="18" charset="0"/>
                <a:cs typeface="Times New Roman" panose="02020603050405020304" pitchFamily="18" charset="0"/>
              </a:rPr>
              <a:t>G. Anusha</a:t>
            </a:r>
            <a:r>
              <a:rPr lang="en-US" sz="1800"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a:t>
            </a:r>
            <a:r>
              <a:rPr lang="en-US" sz="1800"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22KB1A0546</a:t>
            </a:r>
          </a:p>
          <a:p>
            <a:pPr algn="ctr"/>
            <a:r>
              <a:rPr lang="en-US" b="1" dirty="0">
                <a:solidFill>
                  <a:srgbClr val="002060"/>
                </a:solidFill>
                <a:latin typeface="Times New Roman" panose="02020603050405020304" pitchFamily="18" charset="0"/>
                <a:cs typeface="Times New Roman" panose="02020603050405020304" pitchFamily="18" charset="0"/>
              </a:rPr>
              <a:t>          P. Sowmya Sree - 22KB1A05E5</a:t>
            </a:r>
          </a:p>
          <a:p>
            <a:pPr algn="ctr"/>
            <a:r>
              <a:rPr lang="en-US" b="1" dirty="0">
                <a:solidFill>
                  <a:srgbClr val="002060"/>
                </a:solidFill>
                <a:latin typeface="Times New Roman" panose="02020603050405020304" pitchFamily="18" charset="0"/>
                <a:cs typeface="Times New Roman" panose="02020603050405020304" pitchFamily="18" charset="0"/>
              </a:rPr>
              <a:t>    S. Navya Sri - 22KB1A05G8</a:t>
            </a:r>
          </a:p>
        </p:txBody>
      </p:sp>
      <p:sp>
        <p:nvSpPr>
          <p:cNvPr id="10" name="TextBox 9">
            <a:extLst>
              <a:ext uri="{FF2B5EF4-FFF2-40B4-BE49-F238E27FC236}">
                <a16:creationId xmlns:a16="http://schemas.microsoft.com/office/drawing/2014/main" id="{A87D0158-E485-6F86-27EE-BDE92B73FAE7}"/>
              </a:ext>
            </a:extLst>
          </p:cNvPr>
          <p:cNvSpPr txBox="1"/>
          <p:nvPr/>
        </p:nvSpPr>
        <p:spPr>
          <a:xfrm>
            <a:off x="324898" y="5181600"/>
            <a:ext cx="8514302" cy="1477328"/>
          </a:xfrm>
          <a:prstGeom prst="rect">
            <a:avLst/>
          </a:prstGeom>
          <a:noFill/>
        </p:spPr>
        <p:txBody>
          <a:bodyPr wrap="square">
            <a:spAutoFit/>
          </a:bodyPr>
          <a:lstStyle/>
          <a:p>
            <a:pPr algn="ctr"/>
            <a:r>
              <a:rPr lang="en-US" b="1" dirty="0">
                <a:solidFill>
                  <a:srgbClr val="002060"/>
                </a:solidFill>
                <a:latin typeface="Times New Roman" panose="02020603050405020304" pitchFamily="18" charset="0"/>
                <a:cs typeface="Times New Roman" panose="02020603050405020304" pitchFamily="18" charset="0"/>
              </a:rPr>
              <a:t>Under the esteemed Guidance of :</a:t>
            </a:r>
          </a:p>
          <a:p>
            <a:pPr algn="ctr"/>
            <a:r>
              <a:rPr lang="en-US" b="1" dirty="0" err="1">
                <a:solidFill>
                  <a:srgbClr val="002060"/>
                </a:solidFill>
                <a:latin typeface="Times New Roman" panose="02020603050405020304" pitchFamily="18" charset="0"/>
                <a:cs typeface="Times New Roman" panose="02020603050405020304" pitchFamily="18" charset="0"/>
              </a:rPr>
              <a:t>Dr.A.Rajasekhar</a:t>
            </a:r>
            <a:r>
              <a:rPr lang="en-US" b="1" dirty="0">
                <a:solidFill>
                  <a:srgbClr val="002060"/>
                </a:solidFill>
                <a:latin typeface="Times New Roman" panose="02020603050405020304" pitchFamily="18" charset="0"/>
                <a:cs typeface="Times New Roman" panose="02020603050405020304" pitchFamily="18" charset="0"/>
              </a:rPr>
              <a:t> Reddy</a:t>
            </a:r>
          </a:p>
          <a:p>
            <a:pPr algn="ctr"/>
            <a:r>
              <a:rPr lang="en-US" b="1" dirty="0" err="1">
                <a:solidFill>
                  <a:srgbClr val="002060"/>
                </a:solidFill>
                <a:latin typeface="Times New Roman" panose="02020603050405020304" pitchFamily="18" charset="0"/>
                <a:cs typeface="Times New Roman" panose="02020603050405020304" pitchFamily="18" charset="0"/>
              </a:rPr>
              <a:t>M.Tech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Ph.D</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Professor &amp; HOD of CSE Department </a:t>
            </a:r>
          </a:p>
          <a:p>
            <a:pPr algn="ct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DCE9E56-F1E1-78BA-9FA3-A5FF0C67FC2D}"/>
              </a:ext>
            </a:extLst>
          </p:cNvPr>
          <p:cNvSpPr txBox="1"/>
          <p:nvPr/>
        </p:nvSpPr>
        <p:spPr>
          <a:xfrm>
            <a:off x="381000" y="3289709"/>
            <a:ext cx="8458200" cy="384721"/>
          </a:xfrm>
          <a:prstGeom prst="rect">
            <a:avLst/>
          </a:prstGeom>
          <a:noFill/>
        </p:spPr>
        <p:txBody>
          <a:bodyPr wrap="square">
            <a:spAutoFit/>
          </a:bodyPr>
          <a:lstStyle/>
          <a:p>
            <a:pPr algn="ctr"/>
            <a:r>
              <a:rPr lang="en-US" sz="1900" b="1" dirty="0">
                <a:solidFill>
                  <a:schemeClr val="accent1"/>
                </a:solidFill>
                <a:latin typeface="Times New Roman" panose="02020603050405020304" pitchFamily="18" charset="0"/>
                <a:cs typeface="Times New Roman" panose="02020603050405020304" pitchFamily="18" charset="0"/>
              </a:rPr>
              <a:t> BY 22PR001 (Batch-01)</a:t>
            </a:r>
            <a:endParaRPr lang="en-IN" sz="1900" dirty="0">
              <a:solidFill>
                <a:schemeClr val="accent1"/>
              </a:solidFill>
            </a:endParaRPr>
          </a:p>
        </p:txBody>
      </p:sp>
      <p:sp>
        <p:nvSpPr>
          <p:cNvPr id="20" name="TextBox 19">
            <a:extLst>
              <a:ext uri="{FF2B5EF4-FFF2-40B4-BE49-F238E27FC236}">
                <a16:creationId xmlns:a16="http://schemas.microsoft.com/office/drawing/2014/main" id="{6DB8A711-7488-F226-235B-7D8799BE1AA4}"/>
              </a:ext>
            </a:extLst>
          </p:cNvPr>
          <p:cNvSpPr txBox="1"/>
          <p:nvPr/>
        </p:nvSpPr>
        <p:spPr>
          <a:xfrm>
            <a:off x="381000" y="2293493"/>
            <a:ext cx="8419681" cy="400110"/>
          </a:xfrm>
          <a:prstGeom prst="rect">
            <a:avLst/>
          </a:prstGeom>
          <a:noFill/>
        </p:spPr>
        <p:txBody>
          <a:bodyPr wrap="square">
            <a:spAutoFit/>
          </a:bodyPr>
          <a:lstStyle/>
          <a:p>
            <a:pPr algn="ctr"/>
            <a:r>
              <a:rPr lang="en-IN" sz="2000" b="1" dirty="0">
                <a:solidFill>
                  <a:schemeClr val="accent1"/>
                </a:solidFill>
                <a:latin typeface="Times New Roman" panose="02020603050405020304" pitchFamily="18" charset="0"/>
                <a:cs typeface="Times New Roman" panose="02020603050405020304" pitchFamily="18" charset="0"/>
              </a:rPr>
              <a:t>Final Year Project on</a:t>
            </a:r>
          </a:p>
        </p:txBody>
      </p:sp>
    </p:spTree>
    <p:extLst>
      <p:ext uri="{BB962C8B-B14F-4D97-AF65-F5344CB8AC3E}">
        <p14:creationId xmlns:p14="http://schemas.microsoft.com/office/powerpoint/2010/main" val="3908010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6B5B-F529-55AF-C0EB-27A6D6D1DAEA}"/>
              </a:ext>
            </a:extLst>
          </p:cNvPr>
          <p:cNvSpPr>
            <a:spLocks noGrp="1"/>
          </p:cNvSpPr>
          <p:nvPr>
            <p:ph type="title"/>
          </p:nvPr>
        </p:nvSpPr>
        <p:spPr>
          <a:xfrm>
            <a:off x="454688" y="304800"/>
            <a:ext cx="8229600" cy="1143000"/>
          </a:xfrm>
        </p:spPr>
        <p:txBody>
          <a:bodyPr>
            <a:normAutofit/>
          </a:bodyPr>
          <a:lstStyle/>
          <a:p>
            <a:pPr algn="ctr"/>
            <a:r>
              <a:rPr lang="en-IN" sz="36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923AE1C-6ACB-0D34-5467-31FE98F85056}"/>
              </a:ext>
            </a:extLst>
          </p:cNvPr>
          <p:cNvSpPr>
            <a:spLocks noGrp="1"/>
          </p:cNvSpPr>
          <p:nvPr>
            <p:ph idx="1"/>
          </p:nvPr>
        </p:nvSpPr>
        <p:spPr/>
        <p:txBody>
          <a:bodyPr>
            <a:normAutofit/>
          </a:bodyPr>
          <a:lstStyle/>
          <a:p>
            <a:pPr marL="0" indent="0" algn="just">
              <a:buNone/>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stock market is a highly complex nonlinear movement system, and its fluctuation law is affected by many factors, so the prediction of the stock price index is a very challenging task. </a:t>
            </a:r>
            <a:r>
              <a:rPr lang="en-US" sz="2400" dirty="0">
                <a:latin typeface="Times New Roman" panose="02020603050405020304" pitchFamily="18" charset="0"/>
                <a:cs typeface="Times New Roman" panose="02020603050405020304" pitchFamily="18" charset="0"/>
              </a:rPr>
              <a:t>In Stock Market Prediction the aim is to predict the future value of the financial stocks of a company. Machine learning itself employs different models to make prediction easier. Algorithms like Long short-term memory(LSTM) which is a deep learning algorithm is best algorithm for stock price prediction because of  its sequential data. Using layers like  dropout and dense will enhance the performance and accuracy of the model.</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266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710334-D121-C94E-1866-8F4EB9BCD6F8}"/>
              </a:ext>
            </a:extLst>
          </p:cNvPr>
          <p:cNvSpPr txBox="1"/>
          <p:nvPr/>
        </p:nvSpPr>
        <p:spPr>
          <a:xfrm>
            <a:off x="442452" y="200034"/>
            <a:ext cx="8294025" cy="646331"/>
          </a:xfrm>
          <a:prstGeom prst="rect">
            <a:avLst/>
          </a:prstGeom>
          <a:noFill/>
        </p:spPr>
        <p:txBody>
          <a:bodyPr wrap="square">
            <a:spAutoFit/>
          </a:bodyPr>
          <a:lstStyle/>
          <a:p>
            <a:pPr algn="ctr"/>
            <a:r>
              <a:rPr lang="en-US" sz="3600" b="1" dirty="0">
                <a:solidFill>
                  <a:schemeClr val="accent1">
                    <a:lumMod val="50000"/>
                  </a:schemeClr>
                </a:solidFill>
                <a:latin typeface="Times New Roman" panose="02020603050405020304" pitchFamily="18" charset="0"/>
                <a:cs typeface="Times New Roman" panose="02020603050405020304" pitchFamily="18" charset="0"/>
              </a:rPr>
              <a:t>INTRODUCTION</a:t>
            </a:r>
            <a:endParaRPr lang="en-IN" sz="3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5D48E5E-0B10-124C-725F-A4A5ED076DC5}"/>
              </a:ext>
            </a:extLst>
          </p:cNvPr>
          <p:cNvSpPr txBox="1"/>
          <p:nvPr/>
        </p:nvSpPr>
        <p:spPr>
          <a:xfrm>
            <a:off x="467573" y="1148917"/>
            <a:ext cx="8370225" cy="1200329"/>
          </a:xfrm>
          <a:prstGeom prst="rect">
            <a:avLst/>
          </a:prstGeom>
          <a:noFill/>
        </p:spPr>
        <p:txBody>
          <a:bodyPr wrap="square">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ML has a subset known as Deep learning. It is a specialized subset of machine learning that utilizes neural networks with multiple layers to model complex patterns in large datasets.</a:t>
            </a:r>
            <a:endParaRPr lang="en-IN" sz="2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0375574-231D-FA80-CACD-D1D8A2DBA2AE}"/>
              </a:ext>
            </a:extLst>
          </p:cNvPr>
          <p:cNvSpPr txBox="1"/>
          <p:nvPr/>
        </p:nvSpPr>
        <p:spPr>
          <a:xfrm>
            <a:off x="470922" y="2475507"/>
            <a:ext cx="8294025" cy="1508105"/>
          </a:xfrm>
          <a:prstGeom prst="rect">
            <a:avLst/>
          </a:prstGeom>
          <a:noFill/>
        </p:spPr>
        <p:txBody>
          <a:bodyPr wrap="square">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Deep learning algorithms are advanced machine learning techniques that utilize neural networks with multiple layers to process and learn from vast amounts of data</a:t>
            </a:r>
            <a:r>
              <a:rPr lang="en-US"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55ECA97-4A49-A404-E068-CD7F4DE0D70B}"/>
              </a:ext>
            </a:extLst>
          </p:cNvPr>
          <p:cNvSpPr txBox="1"/>
          <p:nvPr/>
        </p:nvSpPr>
        <p:spPr>
          <a:xfrm>
            <a:off x="467573" y="5049236"/>
            <a:ext cx="8294025" cy="1877437"/>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Predicting the stocks is a challenging task and the data is very much complex. machine learning is a powerful tool in predicting the future outcomes using algorithms with accurate results.</a:t>
            </a:r>
          </a:p>
          <a:p>
            <a:pPr algn="just"/>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BED18EF-CCAA-0BC1-2678-065CABC6346A}"/>
              </a:ext>
            </a:extLst>
          </p:cNvPr>
          <p:cNvSpPr txBox="1"/>
          <p:nvPr/>
        </p:nvSpPr>
        <p:spPr>
          <a:xfrm>
            <a:off x="454175" y="3720773"/>
            <a:ext cx="8294025" cy="1508105"/>
          </a:xfrm>
          <a:prstGeom prst="rect">
            <a:avLst/>
          </a:prstGeom>
          <a:noFill/>
        </p:spPr>
        <p:txBody>
          <a:bodyPr wrap="square">
            <a:spAutoFit/>
          </a:bodyPr>
          <a:lstStyle/>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 present generation stock market plays an important role in global economy,</a:t>
            </a:r>
            <a:r>
              <a:rPr lang="en-US" sz="2400" dirty="0">
                <a:latin typeface="Times New Roman" panose="02020603050405020304" pitchFamily="18" charset="0"/>
                <a:cs typeface="Times New Roman" panose="02020603050405020304" pitchFamily="18" charset="0"/>
              </a:rPr>
              <a:t> serving as a platform for companies to raise capital and for investors to grow their wealth.</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713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BAFA289-6E01-0E25-2D22-C4C65AEA5AAE}"/>
              </a:ext>
            </a:extLst>
          </p:cNvPr>
          <p:cNvSpPr txBox="1"/>
          <p:nvPr/>
        </p:nvSpPr>
        <p:spPr>
          <a:xfrm>
            <a:off x="2209800" y="347246"/>
            <a:ext cx="6324600" cy="584775"/>
          </a:xfrm>
          <a:prstGeom prst="rect">
            <a:avLst/>
          </a:prstGeom>
          <a:noFill/>
        </p:spPr>
        <p:txBody>
          <a:bodyPr wrap="square">
            <a:spAutoFit/>
          </a:bodyPr>
          <a:lstStyle/>
          <a:p>
            <a:r>
              <a:rPr lang="en-IN" sz="3200" b="1" dirty="0">
                <a:solidFill>
                  <a:schemeClr val="tx2"/>
                </a:solidFill>
              </a:rPr>
              <a:t>LITERATURE</a:t>
            </a:r>
            <a:r>
              <a:rPr lang="en-IN" sz="3200" b="1" dirty="0"/>
              <a:t> </a:t>
            </a:r>
            <a:r>
              <a:rPr lang="en-IN" sz="3200" b="1" dirty="0">
                <a:solidFill>
                  <a:schemeClr val="tx2"/>
                </a:solidFill>
              </a:rPr>
              <a:t>SURVEY</a:t>
            </a:r>
            <a:endParaRPr lang="en-IN" sz="3600" b="1" dirty="0">
              <a:solidFill>
                <a:schemeClr val="tx2"/>
              </a:solidFill>
            </a:endParaRPr>
          </a:p>
        </p:txBody>
      </p:sp>
      <p:sp>
        <p:nvSpPr>
          <p:cNvPr id="11" name="TextBox 10">
            <a:extLst>
              <a:ext uri="{FF2B5EF4-FFF2-40B4-BE49-F238E27FC236}">
                <a16:creationId xmlns:a16="http://schemas.microsoft.com/office/drawing/2014/main" id="{C8D8F8F1-C182-8294-FD63-CE93D2A15B19}"/>
              </a:ext>
            </a:extLst>
          </p:cNvPr>
          <p:cNvSpPr txBox="1"/>
          <p:nvPr/>
        </p:nvSpPr>
        <p:spPr>
          <a:xfrm>
            <a:off x="1676400" y="0"/>
            <a:ext cx="6096000" cy="923330"/>
          </a:xfrm>
          <a:prstGeom prst="rect">
            <a:avLst/>
          </a:prstGeom>
          <a:noFill/>
        </p:spPr>
        <p:txBody>
          <a:bodyPr wrap="square">
            <a:spAutoFit/>
          </a:bodyPr>
          <a:lstStyle/>
          <a:p>
            <a:pPr>
              <a:buNone/>
            </a:pPr>
            <a:endParaRPr lang="en-IN" b="1" dirty="0"/>
          </a:p>
          <a:p>
            <a:endParaRPr lang="en-IN" b="1" dirty="0"/>
          </a:p>
          <a:p>
            <a:endParaRPr lang="en-IN" dirty="0"/>
          </a:p>
        </p:txBody>
      </p:sp>
      <p:pic>
        <p:nvPicPr>
          <p:cNvPr id="17" name="Picture 16">
            <a:extLst>
              <a:ext uri="{FF2B5EF4-FFF2-40B4-BE49-F238E27FC236}">
                <a16:creationId xmlns:a16="http://schemas.microsoft.com/office/drawing/2014/main" id="{F0957AF2-F79D-31A2-5DBF-606E1434AD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2021"/>
            <a:ext cx="9144000" cy="6078379"/>
          </a:xfrm>
          <a:prstGeom prst="rect">
            <a:avLst/>
          </a:prstGeom>
        </p:spPr>
      </p:pic>
    </p:spTree>
    <p:extLst>
      <p:ext uri="{BB962C8B-B14F-4D97-AF65-F5344CB8AC3E}">
        <p14:creationId xmlns:p14="http://schemas.microsoft.com/office/powerpoint/2010/main" val="2772474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3413-622F-0FE2-39E9-2EE8D94F5833}"/>
              </a:ext>
            </a:extLst>
          </p:cNvPr>
          <p:cNvSpPr>
            <a:spLocks noGrp="1"/>
          </p:cNvSpPr>
          <p:nvPr>
            <p:ph type="title"/>
          </p:nvPr>
        </p:nvSpPr>
        <p:spPr>
          <a:xfrm>
            <a:off x="381000" y="228600"/>
            <a:ext cx="8305800" cy="838200"/>
          </a:xfrm>
        </p:spPr>
        <p:txBody>
          <a:bodyPr>
            <a:normAutofit/>
          </a:bodyPr>
          <a:lstStyle/>
          <a:p>
            <a:pPr algn="ctr"/>
            <a:r>
              <a:rPr lang="en-US" sz="3600" b="1" dirty="0">
                <a:latin typeface="Times New Roman" panose="02020603050405020304" pitchFamily="18" charset="0"/>
                <a:cs typeface="Times New Roman" panose="02020603050405020304" pitchFamily="18" charset="0"/>
              </a:rPr>
              <a:t>EXISTING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29AD92-7C0F-0740-0CCB-3D11A0D72198}"/>
              </a:ext>
            </a:extLst>
          </p:cNvPr>
          <p:cNvSpPr>
            <a:spLocks noGrp="1"/>
          </p:cNvSpPr>
          <p:nvPr>
            <p:ph idx="1"/>
          </p:nvPr>
        </p:nvSpPr>
        <p:spPr>
          <a:xfrm>
            <a:off x="152400" y="1371600"/>
            <a:ext cx="8763000" cy="4953000"/>
          </a:xfrm>
        </p:spPr>
        <p:txBody>
          <a:bodyPr>
            <a:norm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system of stock price prediction uses a feed forward neural network.</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model performs backpropagation algorithm for training process.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This model gave a fundamental insight into the prediction trend and provided a graphical result on how the prediction should look. </a:t>
            </a:r>
            <a:endParaRPr lang="en-US" b="0" i="0" dirty="0">
              <a:solidFill>
                <a:schemeClr val="bg1"/>
              </a:solidFill>
              <a:effectLst/>
              <a:highlight>
                <a:srgbClr val="FFFF00"/>
              </a:highligh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Even though it can give an accuracy of 97.66% but it loses the context from time series data very </a:t>
            </a:r>
            <a:r>
              <a:rPr lang="en-IN" dirty="0" err="1">
                <a:latin typeface="Times New Roman" panose="02020603050405020304" pitchFamily="18" charset="0"/>
                <a:cs typeface="Times New Roman" panose="02020603050405020304" pitchFamily="18" charset="0"/>
              </a:rPr>
              <a:t>fastly</a:t>
            </a:r>
            <a:r>
              <a:rPr lang="en-IN" dirty="0">
                <a:latin typeface="Times New Roman" panose="02020603050405020304" pitchFamily="18" charset="0"/>
                <a:cs typeface="Times New Roman" panose="02020603050405020304" pitchFamily="18" charset="0"/>
              </a:rPr>
              <a:t> and requires a large training data and epochs to get the above accuracy.</a:t>
            </a:r>
          </a:p>
        </p:txBody>
      </p:sp>
    </p:spTree>
    <p:extLst>
      <p:ext uri="{BB962C8B-B14F-4D97-AF65-F5344CB8AC3E}">
        <p14:creationId xmlns:p14="http://schemas.microsoft.com/office/powerpoint/2010/main" val="467060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B0344E-2EFB-F7BF-1CD1-9BA785387E83}"/>
              </a:ext>
            </a:extLst>
          </p:cNvPr>
          <p:cNvSpPr>
            <a:spLocks noGrp="1"/>
          </p:cNvSpPr>
          <p:nvPr>
            <p:ph type="title"/>
          </p:nvPr>
        </p:nvSpPr>
        <p:spPr>
          <a:xfrm>
            <a:off x="312336" y="0"/>
            <a:ext cx="8519327" cy="1143000"/>
          </a:xfrm>
        </p:spPr>
        <p:txBody>
          <a:bodyPr>
            <a:normAutofit/>
          </a:bodyPr>
          <a:lstStyle/>
          <a:p>
            <a:pPr algn="ctr"/>
            <a:r>
              <a:rPr lang="en-US" sz="3300" b="1" dirty="0">
                <a:latin typeface="Times New Roman" panose="02020603050405020304" pitchFamily="18" charset="0"/>
                <a:cs typeface="Times New Roman" panose="02020603050405020304" pitchFamily="18" charset="0"/>
              </a:rPr>
              <a:t>DRAWBACKS</a:t>
            </a:r>
            <a:r>
              <a:rPr lang="en-US" sz="3400" b="1" dirty="0">
                <a:latin typeface="Times New Roman" panose="02020603050405020304" pitchFamily="18" charset="0"/>
                <a:cs typeface="Times New Roman" panose="02020603050405020304" pitchFamily="18" charset="0"/>
              </a:rPr>
              <a:t> OF EXISTING SYSTEM</a:t>
            </a:r>
            <a:endParaRPr lang="en-IN" sz="34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0C4F0EC1-5DE4-AF78-BF80-F53A4F84FF50}"/>
              </a:ext>
            </a:extLst>
          </p:cNvPr>
          <p:cNvSpPr>
            <a:spLocks noGrp="1"/>
          </p:cNvSpPr>
          <p:nvPr>
            <p:ph idx="1"/>
          </p:nvPr>
        </p:nvSpPr>
        <p:spPr>
          <a:xfrm>
            <a:off x="312336" y="1143000"/>
            <a:ext cx="8374464" cy="5334000"/>
          </a:xfrm>
        </p:spPr>
        <p:txBody>
          <a:bodyPr>
            <a:noAutofit/>
          </a:bodyPr>
          <a:lstStyle/>
          <a:p>
            <a:pPr marL="0" indent="0">
              <a:buNone/>
            </a:pPr>
            <a:endParaRPr lang="en-US" sz="2300" dirty="0">
              <a:solidFill>
                <a:schemeClr val="tx2"/>
              </a:solidFill>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LARGE DATASET:</a:t>
            </a:r>
            <a:r>
              <a:rPr lang="en-US"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ea typeface="Calibri Light" panose="020F0302020204030204" pitchFamily="34" charset="0"/>
                <a:cs typeface="Times New Roman" panose="02020603050405020304" pitchFamily="18" charset="0"/>
              </a:rPr>
              <a:t>The existing model requires a large dataset, many training  and epochs to gain the perfect accuracy of the stock trends and it can’t  predict the sequential nature of time-series data.</a:t>
            </a:r>
          </a:p>
          <a:p>
            <a:pPr marL="0" indent="0">
              <a:buNone/>
            </a:pPr>
            <a:endParaRPr lang="en-US" sz="2300" dirty="0">
              <a:solidFill>
                <a:schemeClr val="tx2"/>
              </a:solidFill>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OVERFITTING: </a:t>
            </a:r>
            <a:r>
              <a:rPr lang="en-US" sz="2300" dirty="0">
                <a:latin typeface="Times New Roman" panose="02020603050405020304" pitchFamily="18" charset="0"/>
                <a:ea typeface="Calibri Light" panose="020F0302020204030204" pitchFamily="34" charset="0"/>
                <a:cs typeface="Times New Roman" panose="02020603050405020304" pitchFamily="18" charset="0"/>
              </a:rPr>
              <a:t>These models are prone to overfitting as the model is complex and has to learn too much from training data making it sensitive to some specific details causing overfitting.</a:t>
            </a:r>
          </a:p>
          <a:p>
            <a:endParaRPr lang="en-US" sz="2300" dirty="0">
              <a:solidFill>
                <a:schemeClr val="tx2"/>
              </a:solidFill>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SCALABILITY: </a:t>
            </a:r>
            <a:r>
              <a:rPr lang="en-US" sz="2300" dirty="0">
                <a:latin typeface="Times New Roman" panose="02020603050405020304" pitchFamily="18" charset="0"/>
                <a:ea typeface="Calibri Light" panose="020F0302020204030204" pitchFamily="34" charset="0"/>
                <a:cs typeface="Times New Roman" panose="02020603050405020304" pitchFamily="18" charset="0"/>
              </a:rPr>
              <a:t>This model struggle with scalability when dealing with large-scale sequential data, as they do not inherently account for temporal dependencies.</a:t>
            </a:r>
            <a:endParaRPr lang="en-IN" sz="2300" dirty="0">
              <a:latin typeface="Times New Roman" panose="02020603050405020304" pitchFamily="18" charset="0"/>
              <a:ea typeface="Calibri Light" panose="020F0302020204030204" pitchFamily="34" charset="0"/>
              <a:cs typeface="Times New Roman" panose="02020603050405020304" pitchFamily="18" charset="0"/>
            </a:endParaRPr>
          </a:p>
        </p:txBody>
      </p:sp>
    </p:spTree>
    <p:extLst>
      <p:ext uri="{BB962C8B-B14F-4D97-AF65-F5344CB8AC3E}">
        <p14:creationId xmlns:p14="http://schemas.microsoft.com/office/powerpoint/2010/main" val="280026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E64C-3BE3-EFFD-5BE6-EDBD32D7A9E4}"/>
              </a:ext>
            </a:extLst>
          </p:cNvPr>
          <p:cNvSpPr>
            <a:spLocks noGrp="1"/>
          </p:cNvSpPr>
          <p:nvPr>
            <p:ph type="title"/>
          </p:nvPr>
        </p:nvSpPr>
        <p:spPr>
          <a:xfrm>
            <a:off x="606879" y="228600"/>
            <a:ext cx="8153400" cy="743712"/>
          </a:xfrm>
        </p:spPr>
        <p:txBody>
          <a:bodyPr>
            <a:normAutofit/>
          </a:bodyPr>
          <a:lstStyle/>
          <a:p>
            <a:pPr algn="ctr"/>
            <a:r>
              <a:rPr lang="en-US" sz="3600" b="1" dirty="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85259C-8E11-E0AF-4C09-973F674CF8DC}"/>
              </a:ext>
            </a:extLst>
          </p:cNvPr>
          <p:cNvSpPr>
            <a:spLocks noGrp="1"/>
          </p:cNvSpPr>
          <p:nvPr>
            <p:ph idx="1"/>
          </p:nvPr>
        </p:nvSpPr>
        <p:spPr>
          <a:xfrm>
            <a:off x="606878" y="1371600"/>
            <a:ext cx="7851321" cy="4648200"/>
          </a:xfrm>
        </p:spPr>
        <p:txBody>
          <a:bodyPr>
            <a:normAutofit/>
          </a:bodyPr>
          <a:lstStyle/>
          <a:p>
            <a:pPr algn="just">
              <a:buClr>
                <a:schemeClr val="tx1"/>
              </a:buCl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In contrast, the proposed system uses a deep learning algorithm known as LSTM and layers like dense and dropout.</a:t>
            </a:r>
          </a:p>
          <a:p>
            <a:pPr algn="just">
              <a:buClr>
                <a:schemeClr val="tx1"/>
              </a:buCl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This model can capture the temporal dependencies, long term patterns and can handle sequential data effectively.</a:t>
            </a:r>
          </a:p>
          <a:p>
            <a:pPr algn="just">
              <a:buClr>
                <a:schemeClr val="tx1"/>
              </a:buCl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This model can easily get adapted to dynamic market conditions and automatically learn relevant features from raw data.</a:t>
            </a:r>
          </a:p>
          <a:p>
            <a:pPr algn="just">
              <a:buClr>
                <a:schemeClr val="tx1"/>
              </a:buCl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LSTM-model will outperform the existing model in stock price prediction due to its capabilities and abilities.</a:t>
            </a:r>
          </a:p>
        </p:txBody>
      </p:sp>
    </p:spTree>
    <p:extLst>
      <p:ext uri="{BB962C8B-B14F-4D97-AF65-F5344CB8AC3E}">
        <p14:creationId xmlns:p14="http://schemas.microsoft.com/office/powerpoint/2010/main" val="3988338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6F68A-E2B5-A225-76A1-D58D7D2B90D5}"/>
              </a:ext>
            </a:extLst>
          </p:cNvPr>
          <p:cNvSpPr>
            <a:spLocks noGrp="1"/>
          </p:cNvSpPr>
          <p:nvPr>
            <p:ph type="title"/>
          </p:nvPr>
        </p:nvSpPr>
        <p:spPr>
          <a:xfrm>
            <a:off x="381000" y="381000"/>
            <a:ext cx="8610600" cy="667512"/>
          </a:xfrm>
        </p:spPr>
        <p:txBody>
          <a:bodyPr>
            <a:normAutofit/>
          </a:bodyPr>
          <a:lstStyle/>
          <a:p>
            <a:r>
              <a:rPr lang="en-US" sz="3600" b="1" dirty="0">
                <a:latin typeface="Times New Roman" panose="02020603050405020304" pitchFamily="18" charset="0"/>
                <a:cs typeface="Times New Roman" panose="02020603050405020304" pitchFamily="18" charset="0"/>
              </a:rPr>
              <a:t>ADVANTAGES OF PROPOSED SYSTEM</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EAF9C9-24C1-9EBE-B8D1-7328B3D6D2FF}"/>
              </a:ext>
            </a:extLst>
          </p:cNvPr>
          <p:cNvSpPr>
            <a:spLocks noGrp="1"/>
          </p:cNvSpPr>
          <p:nvPr>
            <p:ph idx="1"/>
          </p:nvPr>
        </p:nvSpPr>
        <p:spPr>
          <a:xfrm>
            <a:off x="457200" y="1371600"/>
            <a:ext cx="8153400" cy="4876800"/>
          </a:xfrm>
        </p:spPr>
        <p:txBody>
          <a:bodyPr>
            <a:noAutofit/>
          </a:bodyPr>
          <a:lstStyle/>
          <a:p>
            <a:pPr marL="0" indent="0" algn="r">
              <a:buNone/>
            </a:pPr>
            <a:endParaRPr lang="en-US" sz="23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Handling Sequential Data: </a:t>
            </a:r>
            <a:r>
              <a:rPr lang="en-US" sz="2400" dirty="0">
                <a:latin typeface="Times New Roman" panose="02020603050405020304" pitchFamily="18" charset="0"/>
                <a:ea typeface="Calibri" panose="020F0502020204030204" pitchFamily="34" charset="0"/>
                <a:cs typeface="Times New Roman" panose="02020603050405020304" pitchFamily="18" charset="0"/>
              </a:rPr>
              <a:t>LSTM are specifically designed to handle sequential data, such as time series. </a:t>
            </a:r>
            <a:r>
              <a:rPr lang="en-IN" sz="2400" dirty="0">
                <a:latin typeface="Times New Roman" panose="02020603050405020304" pitchFamily="18" charset="0"/>
                <a:ea typeface="Calibri" panose="020F0502020204030204" pitchFamily="34" charset="0"/>
                <a:cs typeface="Times New Roman" panose="02020603050405020304" pitchFamily="18" charset="0"/>
              </a:rPr>
              <a:t>so, they can easily find long term patterns in data which is crucial for stock price prediction.</a:t>
            </a:r>
            <a:endParaRPr lang="en-US" sz="2400" dirty="0">
              <a:solidFill>
                <a:schemeClr val="tx2"/>
              </a:solidFill>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Feature Learning: </a:t>
            </a:r>
            <a:r>
              <a:rPr lang="en-US" sz="2400" dirty="0">
                <a:latin typeface="Times New Roman" panose="02020603050405020304" pitchFamily="18" charset="0"/>
                <a:ea typeface="Calibri" panose="020F0502020204030204" pitchFamily="34" charset="0"/>
                <a:cs typeface="Times New Roman" panose="02020603050405020304" pitchFamily="18" charset="0"/>
              </a:rPr>
              <a:t>The proposed model can automatically learn relevant features from raw sequential data, reducing need for extensive feature engineering</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400" dirty="0">
              <a:solidFill>
                <a:schemeClr val="tx2"/>
              </a:solidFill>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Memory and Context: </a:t>
            </a:r>
            <a:r>
              <a:rPr lang="en-IN" sz="2400" dirty="0">
                <a:latin typeface="Times New Roman" panose="02020603050405020304" pitchFamily="18" charset="0"/>
                <a:ea typeface="Calibri" panose="020F0502020204030204" pitchFamily="34" charset="0"/>
                <a:cs typeface="Times New Roman" panose="02020603050405020304" pitchFamily="18" charset="0"/>
              </a:rPr>
              <a:t>LSTM’s have a memory cell that can retain information over long periods allowing them to remember important past events and use this context to make better predictions.</a:t>
            </a:r>
          </a:p>
          <a:p>
            <a:pPr algn="just"/>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7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78B0-ECEE-5FAE-49E9-043C0A69B33E}"/>
              </a:ext>
            </a:extLst>
          </p:cNvPr>
          <p:cNvSpPr>
            <a:spLocks noGrp="1"/>
          </p:cNvSpPr>
          <p:nvPr>
            <p:ph type="title"/>
          </p:nvPr>
        </p:nvSpPr>
        <p:spPr>
          <a:xfrm>
            <a:off x="548878" y="228600"/>
            <a:ext cx="7873762" cy="533400"/>
          </a:xfrm>
        </p:spPr>
        <p:txBody>
          <a:bodyPr>
            <a:noAutofit/>
          </a:bodyPr>
          <a:lstStyle/>
          <a:p>
            <a:pPr algn="ctr"/>
            <a:r>
              <a:rPr lang="en-US" sz="3600" b="1" dirty="0">
                <a:latin typeface="Times New Roman" panose="02020603050405020304" pitchFamily="18" charset="0"/>
                <a:cs typeface="Times New Roman" panose="02020603050405020304" pitchFamily="18" charset="0"/>
              </a:rPr>
              <a:t>SYSTEMS ARCHITECTURE</a:t>
            </a:r>
            <a:endParaRPr lang="en-IN" sz="3600" b="1" dirty="0">
              <a:latin typeface="Times New Roman" panose="02020603050405020304" pitchFamily="18" charset="0"/>
              <a:cs typeface="Times New Roman" panose="02020603050405020304" pitchFamily="18" charset="0"/>
            </a:endParaRPr>
          </a:p>
        </p:txBody>
      </p:sp>
      <p:pic>
        <p:nvPicPr>
          <p:cNvPr id="17" name="Content Placeholder 16">
            <a:extLst>
              <a:ext uri="{FF2B5EF4-FFF2-40B4-BE49-F238E27FC236}">
                <a16:creationId xmlns:a16="http://schemas.microsoft.com/office/drawing/2014/main" id="{61AE443E-F7DA-B614-01A6-C65262402CB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66391" y="914400"/>
            <a:ext cx="7002197" cy="5105400"/>
          </a:xfrm>
          <a:prstGeom prst="rect">
            <a:avLst/>
          </a:prstGeom>
          <a:ln>
            <a:noFill/>
          </a:ln>
          <a:effectLst>
            <a:softEdge rad="112500"/>
          </a:effectLst>
        </p:spPr>
      </p:pic>
    </p:spTree>
    <p:extLst>
      <p:ext uri="{BB962C8B-B14F-4D97-AF65-F5344CB8AC3E}">
        <p14:creationId xmlns:p14="http://schemas.microsoft.com/office/powerpoint/2010/main" val="282893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F7525-6D3D-0BDC-5E2F-F52788D47598}"/>
              </a:ext>
            </a:extLst>
          </p:cNvPr>
          <p:cNvSpPr>
            <a:spLocks noGrp="1"/>
          </p:cNvSpPr>
          <p:nvPr>
            <p:ph type="title"/>
          </p:nvPr>
        </p:nvSpPr>
        <p:spPr>
          <a:xfrm>
            <a:off x="533400" y="152400"/>
            <a:ext cx="7848600" cy="591312"/>
          </a:xfrm>
        </p:spPr>
        <p:txBody>
          <a:bodyPr>
            <a:noAutofit/>
          </a:bodyPr>
          <a:lstStyle/>
          <a:p>
            <a:pPr algn="ct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17C1D6-5547-9048-712C-A555A6065D65}"/>
              </a:ext>
            </a:extLst>
          </p:cNvPr>
          <p:cNvSpPr>
            <a:spLocks noGrp="1"/>
          </p:cNvSpPr>
          <p:nvPr>
            <p:ph idx="1"/>
          </p:nvPr>
        </p:nvSpPr>
        <p:spPr>
          <a:xfrm>
            <a:off x="457200" y="914400"/>
            <a:ext cx="8229600" cy="5410200"/>
          </a:xfrm>
        </p:spPr>
        <p:txBody>
          <a:bodyPr>
            <a:normAutofit/>
          </a:bodyPr>
          <a:lstStyle/>
          <a:p>
            <a:pPr marL="0" indent="0" algn="just">
              <a:buNone/>
            </a:pPr>
            <a:r>
              <a:rPr lang="en-US" sz="2000" b="1" dirty="0">
                <a:solidFill>
                  <a:schemeClr val="accent1"/>
                </a:solidFill>
                <a:latin typeface="Times New Roman" panose="02020603050405020304" pitchFamily="18" charset="0"/>
                <a:cs typeface="Times New Roman" panose="02020603050405020304" pitchFamily="18" charset="0"/>
              </a:rPr>
              <a:t>1.Data Fetching :</a:t>
            </a:r>
            <a:r>
              <a:rPr lang="en-US" sz="2000" b="1"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Algorithm</a:t>
            </a:r>
            <a:r>
              <a:rPr lang="en-US" sz="2000" dirty="0">
                <a:latin typeface="Times New Roman" panose="02020603050405020304" pitchFamily="18" charset="0"/>
                <a:cs typeface="Times New Roman" panose="02020603050405020304" pitchFamily="18" charset="0"/>
              </a:rPr>
              <a:t>:</a:t>
            </a:r>
            <a:r>
              <a:rPr lang="en-US" sz="2000" dirty="0">
                <a:solidFill>
                  <a:schemeClr val="accent1"/>
                </a:solidFill>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)Yahoo Finance API (y finance)</a:t>
            </a:r>
          </a:p>
          <a:p>
            <a:pPr marL="0" indent="0" algn="just">
              <a:buNone/>
            </a:pPr>
            <a:r>
              <a:rPr lang="en-US" sz="2000" dirty="0">
                <a:latin typeface="Times New Roman" panose="02020603050405020304" pitchFamily="18" charset="0"/>
                <a:cs typeface="Times New Roman" panose="02020603050405020304" pitchFamily="18" charset="0"/>
              </a:rPr>
              <a:t>                          ii)Pandas for storing and organizing the fetched data</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Fetches real-time stock data (e.g., historical prices, volume) up to the current date.</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CSV or Data Frame containing historical stock prices (e.g., Open, High, Low, Close, Volume).</a:t>
            </a:r>
          </a:p>
          <a:p>
            <a:pPr marL="0" indent="0" algn="just">
              <a:buNone/>
            </a:pPr>
            <a:r>
              <a:rPr lang="en-IN" sz="2000" b="1" i="0" dirty="0">
                <a:solidFill>
                  <a:schemeClr val="accent1"/>
                </a:solidFill>
                <a:effectLst/>
                <a:latin typeface="Times New Roman" panose="02020603050405020304" pitchFamily="18" charset="0"/>
                <a:cs typeface="Times New Roman" panose="02020603050405020304" pitchFamily="18" charset="0"/>
              </a:rPr>
              <a:t>2. Data Preprocessing :</a:t>
            </a: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Sliding Window</a:t>
            </a:r>
            <a:r>
              <a:rPr lang="en-US" sz="2000" b="0" i="0" dirty="0">
                <a:effectLst/>
                <a:latin typeface="Times New Roman" panose="02020603050405020304" pitchFamily="18" charset="0"/>
                <a:cs typeface="Times New Roman" panose="02020603050405020304" pitchFamily="18" charset="0"/>
              </a:rPr>
              <a:t>: Creates sequences of data for LSTM input using a sliding window approach.</a:t>
            </a: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Purpose</a:t>
            </a:r>
            <a:r>
              <a:rPr lang="en-US" sz="2000" b="0" i="0" dirty="0">
                <a:effectLst/>
                <a:latin typeface="Times New Roman" panose="02020603050405020304" pitchFamily="18" charset="0"/>
                <a:cs typeface="Times New Roman" panose="02020603050405020304" pitchFamily="18" charset="0"/>
              </a:rPr>
              <a:t>: Prepares the data for training the LSTM model.</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Tools/Libraries</a:t>
            </a:r>
            <a:r>
              <a:rPr lang="en-US" sz="2000" dirty="0">
                <a:latin typeface="Times New Roman" panose="02020603050405020304" pitchFamily="18" charset="0"/>
                <a:cs typeface="Times New Roman" panose="02020603050405020304" pitchFamily="18" charset="0"/>
              </a:rPr>
              <a:t>:  Pandas for data cleaning.  </a:t>
            </a:r>
          </a:p>
          <a:p>
            <a:pPr marL="0" indent="0" algn="just">
              <a:buNone/>
            </a:pPr>
            <a:r>
              <a:rPr lang="en-US" sz="2000" dirty="0">
                <a:latin typeface="Times New Roman" panose="02020603050405020304" pitchFamily="18" charset="0"/>
                <a:cs typeface="Times New Roman" panose="02020603050405020304" pitchFamily="18" charset="0"/>
              </a:rPr>
              <a:t>                                    NumPy for reshaping data. </a:t>
            </a:r>
          </a:p>
          <a:p>
            <a:pPr marL="0" indent="0" algn="just">
              <a:buNone/>
            </a:pPr>
            <a:r>
              <a:rPr lang="en-US" sz="2000" dirty="0">
                <a:latin typeface="Times New Roman" panose="02020603050405020304" pitchFamily="18" charset="0"/>
                <a:cs typeface="Times New Roman" panose="02020603050405020304" pitchFamily="18" charset="0"/>
              </a:rPr>
              <a:t>                                    Scikit-learn for scaling and splitting data.</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400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EECFA-E464-063D-F675-5A01F5436CAB}"/>
              </a:ext>
            </a:extLst>
          </p:cNvPr>
          <p:cNvSpPr>
            <a:spLocks noGrp="1"/>
          </p:cNvSpPr>
          <p:nvPr>
            <p:ph idx="1"/>
          </p:nvPr>
        </p:nvSpPr>
        <p:spPr>
          <a:xfrm>
            <a:off x="419100" y="152400"/>
            <a:ext cx="8305800" cy="6096000"/>
          </a:xfrm>
        </p:spPr>
        <p:txBody>
          <a:bodyPr>
            <a:normAutofit/>
          </a:bodyPr>
          <a:lstStyle/>
          <a:p>
            <a:pPr marL="0" indent="0" algn="just">
              <a:buNone/>
            </a:pPr>
            <a:endParaRPr lang="en-US" sz="1900" b="1" i="0" dirty="0">
              <a:solidFill>
                <a:schemeClr val="accent1"/>
              </a:solidFill>
              <a:effectLst/>
              <a:latin typeface="Times New Roman" panose="02020603050405020304" pitchFamily="18" charset="0"/>
              <a:cs typeface="Times New Roman" panose="02020603050405020304" pitchFamily="18" charset="0"/>
            </a:endParaRPr>
          </a:p>
          <a:p>
            <a:pPr marL="0" indent="0" algn="just">
              <a:buNone/>
            </a:pPr>
            <a:r>
              <a:rPr lang="en-US" sz="1900" b="1" i="0" dirty="0">
                <a:solidFill>
                  <a:schemeClr val="accent1"/>
                </a:solidFill>
                <a:effectLst/>
                <a:latin typeface="Times New Roman" panose="02020603050405020304" pitchFamily="18" charset="0"/>
                <a:cs typeface="Times New Roman" panose="02020603050405020304" pitchFamily="18" charset="0"/>
              </a:rPr>
              <a:t>3.Training and Validation :</a:t>
            </a:r>
          </a:p>
          <a:p>
            <a:pPr algn="just">
              <a:buFont typeface="Arial" panose="020B0604020202020204" pitchFamily="34" charset="0"/>
              <a:buChar char="•"/>
            </a:pPr>
            <a:r>
              <a:rPr lang="en-US" sz="1900" b="1" i="0" dirty="0">
                <a:effectLst/>
                <a:latin typeface="Times New Roman" panose="02020603050405020304" pitchFamily="18" charset="0"/>
                <a:cs typeface="Times New Roman" panose="02020603050405020304" pitchFamily="18" charset="0"/>
              </a:rPr>
              <a:t>Algorithm</a:t>
            </a:r>
            <a:r>
              <a:rPr lang="en-US" sz="1900" b="0" i="0" dirty="0">
                <a:effectLst/>
                <a:latin typeface="Times New Roman" panose="02020603050405020304" pitchFamily="18" charset="0"/>
                <a:cs typeface="Times New Roman" panose="02020603050405020304" pitchFamily="18" charset="0"/>
              </a:rPr>
              <a:t>: </a:t>
            </a:r>
            <a:r>
              <a:rPr lang="en-US" sz="1900" i="0" dirty="0">
                <a:effectLst/>
                <a:latin typeface="Times New Roman" panose="02020603050405020304" pitchFamily="18" charset="0"/>
                <a:cs typeface="Times New Roman" panose="02020603050405020304" pitchFamily="18" charset="0"/>
              </a:rPr>
              <a:t>Gradient Descent </a:t>
            </a:r>
            <a:r>
              <a:rPr lang="en-US" sz="1900" b="0" i="0" dirty="0">
                <a:effectLst/>
                <a:latin typeface="Times New Roman" panose="02020603050405020304" pitchFamily="18" charset="0"/>
                <a:cs typeface="Times New Roman" panose="02020603050405020304" pitchFamily="18" charset="0"/>
              </a:rPr>
              <a:t>(via Adam optimizer)</a:t>
            </a:r>
          </a:p>
          <a:p>
            <a:pPr algn="just">
              <a:buFont typeface="Arial" panose="020B0604020202020204" pitchFamily="34" charset="0"/>
              <a:buChar char="•"/>
            </a:pPr>
            <a:r>
              <a:rPr lang="en-US" sz="1900" b="1" i="0" dirty="0">
                <a:effectLst/>
                <a:latin typeface="Times New Roman" panose="02020603050405020304" pitchFamily="18" charset="0"/>
                <a:cs typeface="Times New Roman" panose="02020603050405020304" pitchFamily="18" charset="0"/>
              </a:rPr>
              <a:t>Purpose</a:t>
            </a:r>
            <a:r>
              <a:rPr lang="en-US" sz="1900" b="0" i="0" dirty="0">
                <a:effectLst/>
                <a:latin typeface="Times New Roman" panose="02020603050405020304" pitchFamily="18" charset="0"/>
                <a:cs typeface="Times New Roman" panose="02020603050405020304" pitchFamily="18" charset="0"/>
              </a:rPr>
              <a:t>:</a:t>
            </a:r>
            <a:r>
              <a:rPr lang="en-US" sz="1900" b="0" i="0" dirty="0">
                <a:solidFill>
                  <a:schemeClr val="accent1"/>
                </a:solidFill>
                <a:effectLst/>
                <a:latin typeface="Times New Roman" panose="02020603050405020304" pitchFamily="18" charset="0"/>
                <a:cs typeface="Times New Roman" panose="02020603050405020304" pitchFamily="18" charset="0"/>
              </a:rPr>
              <a:t> </a:t>
            </a:r>
            <a:r>
              <a:rPr lang="en-US" sz="1900" b="0" i="0" dirty="0">
                <a:effectLst/>
                <a:latin typeface="Times New Roman" panose="02020603050405020304" pitchFamily="18" charset="0"/>
                <a:cs typeface="Times New Roman" panose="02020603050405020304" pitchFamily="18" charset="0"/>
              </a:rPr>
              <a:t>Trains the LSTM model on historical stock data and validates its performance.</a:t>
            </a:r>
          </a:p>
          <a:p>
            <a:pPr algn="just">
              <a:buFont typeface="Arial" panose="020B0604020202020204" pitchFamily="34" charset="0"/>
              <a:buChar char="•"/>
            </a:pPr>
            <a:r>
              <a:rPr lang="en-US" sz="1900" b="1" i="0" dirty="0">
                <a:effectLst/>
                <a:latin typeface="Times New Roman" panose="02020603050405020304" pitchFamily="18" charset="0"/>
                <a:cs typeface="Times New Roman" panose="02020603050405020304" pitchFamily="18" charset="0"/>
              </a:rPr>
              <a:t>Tools</a:t>
            </a:r>
            <a:r>
              <a:rPr lang="en-US" sz="1900" b="0" i="0" dirty="0">
                <a:effectLst/>
                <a:latin typeface="Times New Roman" panose="02020603050405020304" pitchFamily="18" charset="0"/>
                <a:cs typeface="Times New Roman" panose="02020603050405020304" pitchFamily="18" charset="0"/>
              </a:rPr>
              <a:t>/</a:t>
            </a:r>
            <a:r>
              <a:rPr lang="en-US" sz="1900" b="1" i="0" dirty="0">
                <a:effectLst/>
                <a:latin typeface="Times New Roman" panose="02020603050405020304" pitchFamily="18" charset="0"/>
                <a:cs typeface="Times New Roman" panose="02020603050405020304" pitchFamily="18" charset="0"/>
              </a:rPr>
              <a:t>Libraries: </a:t>
            </a:r>
            <a:r>
              <a:rPr lang="en-US" sz="1900" b="0" i="0" dirty="0" err="1">
                <a:effectLst/>
                <a:latin typeface="Times New Roman" panose="02020603050405020304" pitchFamily="18" charset="0"/>
                <a:cs typeface="Times New Roman" panose="02020603050405020304" pitchFamily="18" charset="0"/>
              </a:rPr>
              <a:t>Keras</a:t>
            </a:r>
            <a:r>
              <a:rPr lang="en-US" sz="1900" b="0" i="0" dirty="0">
                <a:effectLst/>
                <a:latin typeface="Times New Roman" panose="02020603050405020304" pitchFamily="18" charset="0"/>
                <a:cs typeface="Times New Roman" panose="02020603050405020304" pitchFamily="18" charset="0"/>
              </a:rPr>
              <a:t> for model training and validation.  </a:t>
            </a:r>
          </a:p>
          <a:p>
            <a:pPr marL="0" indent="0" algn="just">
              <a:buNone/>
            </a:pPr>
            <a:r>
              <a:rPr lang="en-US" sz="1900" dirty="0">
                <a:latin typeface="Times New Roman" panose="02020603050405020304" pitchFamily="18" charset="0"/>
                <a:cs typeface="Times New Roman" panose="02020603050405020304" pitchFamily="18" charset="0"/>
              </a:rPr>
              <a:t>                                 </a:t>
            </a:r>
            <a:r>
              <a:rPr lang="en-US" sz="1900" b="0" i="0" dirty="0">
                <a:effectLst/>
                <a:latin typeface="Times New Roman" panose="02020603050405020304" pitchFamily="18" charset="0"/>
                <a:cs typeface="Times New Roman" panose="02020603050405020304" pitchFamily="18" charset="0"/>
              </a:rPr>
              <a:t>Matplotlib for visualizing training and validation loss.</a:t>
            </a: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r>
              <a:rPr lang="en-US" sz="1900" b="1" dirty="0">
                <a:solidFill>
                  <a:schemeClr val="accent1"/>
                </a:solidFill>
                <a:latin typeface="Times New Roman" panose="02020603050405020304" pitchFamily="18" charset="0"/>
                <a:cs typeface="Times New Roman" panose="02020603050405020304" pitchFamily="18" charset="0"/>
              </a:rPr>
              <a:t>4.LSTM (Long Short-Term Memory) Network:</a:t>
            </a:r>
            <a:endParaRPr lang="en-US" sz="19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Purpose: </a:t>
            </a:r>
            <a:r>
              <a:rPr lang="en-US" sz="1900" dirty="0">
                <a:latin typeface="Times New Roman" panose="02020603050405020304" pitchFamily="18" charset="0"/>
                <a:cs typeface="Times New Roman" panose="02020603050405020304" pitchFamily="18" charset="0"/>
              </a:rPr>
              <a:t>LSTM is a type of Recurrent Neural Network  used for sequential data, such as time series forecasting (stock prices in this case).</a:t>
            </a:r>
          </a:p>
          <a:p>
            <a:pPr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LSTM is particularly suited for time-series prediction because it can remember long-term dependencies, making it effective for predicting future values based on historical data.</a:t>
            </a:r>
          </a:p>
          <a:p>
            <a:pPr algn="just">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The LSTM model in this project contains some layers in order to run the model without any blunders.</a:t>
            </a:r>
          </a:p>
          <a:p>
            <a:pPr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LSTM Layer</a:t>
            </a:r>
            <a:r>
              <a:rPr lang="en-US" sz="1900" dirty="0">
                <a:latin typeface="Times New Roman" panose="02020603050405020304" pitchFamily="18" charset="0"/>
                <a:cs typeface="Times New Roman" panose="02020603050405020304" pitchFamily="18" charset="0"/>
              </a:rPr>
              <a:t>: This is the core layer that helps capture time-dependent patterns in stock price data.</a:t>
            </a:r>
          </a:p>
          <a:p>
            <a:pPr marL="0" indent="0" algn="just">
              <a:buNone/>
            </a:pPr>
            <a:endParaRPr lang="en-US" sz="1900" b="0" i="0" dirty="0">
              <a:effectLst/>
              <a:latin typeface="Times New Roman" panose="02020603050405020304" pitchFamily="18" charset="0"/>
              <a:cs typeface="Times New Roman" panose="02020603050405020304" pitchFamily="18" charset="0"/>
            </a:endParaRPr>
          </a:p>
          <a:p>
            <a:pPr marL="0" indent="0" algn="just">
              <a:spcBef>
                <a:spcPts val="300"/>
              </a:spcBef>
              <a:buNone/>
            </a:pPr>
            <a:endParaRPr lang="en-US" sz="19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4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B09000-D3CD-AC15-40D9-0F408D3D93D7}"/>
              </a:ext>
            </a:extLst>
          </p:cNvPr>
          <p:cNvSpPr>
            <a:spLocks noGrp="1"/>
          </p:cNvSpPr>
          <p:nvPr>
            <p:ph idx="1"/>
          </p:nvPr>
        </p:nvSpPr>
        <p:spPr>
          <a:xfrm>
            <a:off x="457200" y="304800"/>
            <a:ext cx="8229600" cy="6019800"/>
          </a:xfrm>
        </p:spPr>
        <p:txBody>
          <a:bodyPr>
            <a:normAutofit lnSpcReduction="10000"/>
          </a:bodyPr>
          <a:lstStyle/>
          <a:p>
            <a:pPr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Dropout Layer</a:t>
            </a:r>
            <a:r>
              <a:rPr lang="en-US" sz="2000" dirty="0">
                <a:latin typeface="Times New Roman" panose="02020603050405020304" pitchFamily="18" charset="0"/>
                <a:cs typeface="Times New Roman" panose="02020603050405020304" pitchFamily="18" charset="0"/>
              </a:rPr>
              <a:t>: Helps in regularizing the model to prevent overfitting by randomly dropping some of the neurons during training.</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Dense Layer: </a:t>
            </a:r>
            <a:r>
              <a:rPr lang="en-US" sz="2000" dirty="0">
                <a:latin typeface="Times New Roman" panose="02020603050405020304" pitchFamily="18" charset="0"/>
                <a:cs typeface="Times New Roman" panose="02020603050405020304" pitchFamily="18" charset="0"/>
              </a:rPr>
              <a:t>This layer provides the final output for predicting the next stock price.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solidFill>
                  <a:schemeClr val="accent1"/>
                </a:solidFill>
                <a:latin typeface="Times New Roman" panose="02020603050405020304" pitchFamily="18" charset="0"/>
                <a:cs typeface="Times New Roman" panose="02020603050405020304" pitchFamily="18" charset="0"/>
              </a:rPr>
              <a:t>5.Evaluation Metrics :</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Algorithms:</a:t>
            </a:r>
          </a:p>
          <a:p>
            <a:pPr algn="just">
              <a:buFont typeface="Arial" panose="020B0604020202020204" pitchFamily="34" charset="0"/>
              <a:buChar char="•"/>
            </a:pPr>
            <a:r>
              <a:rPr lang="en-US" sz="2000" dirty="0">
                <a:solidFill>
                  <a:schemeClr val="accent1"/>
                </a:solidFill>
                <a:latin typeface="Times New Roman" panose="02020603050405020304" pitchFamily="18" charset="0"/>
                <a:cs typeface="Times New Roman" panose="02020603050405020304" pitchFamily="18" charset="0"/>
              </a:rPr>
              <a:t>Mean Absolute Error (MAE): </a:t>
            </a:r>
            <a:r>
              <a:rPr lang="en-US" sz="2000" dirty="0">
                <a:latin typeface="Times New Roman" panose="02020603050405020304" pitchFamily="18" charset="0"/>
                <a:cs typeface="Times New Roman" panose="02020603050405020304" pitchFamily="18" charset="0"/>
              </a:rPr>
              <a:t>Measures the average absolute difference between predicted and actual prices.</a:t>
            </a:r>
          </a:p>
          <a:p>
            <a:pPr algn="just">
              <a:buFont typeface="Arial" panose="020B0604020202020204" pitchFamily="34" charset="0"/>
              <a:buChar char="•"/>
            </a:pPr>
            <a:r>
              <a:rPr lang="en-US" sz="2000" dirty="0">
                <a:solidFill>
                  <a:schemeClr val="accent1"/>
                </a:solidFill>
                <a:latin typeface="Times New Roman" panose="02020603050405020304" pitchFamily="18" charset="0"/>
                <a:cs typeface="Times New Roman" panose="02020603050405020304" pitchFamily="18" charset="0"/>
              </a:rPr>
              <a:t>Root Mean Squared Error (RMSE):</a:t>
            </a:r>
            <a:r>
              <a:rPr lang="en-US" sz="2000" b="1" dirty="0">
                <a:solidFill>
                  <a:schemeClr val="accent1"/>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Measures the square root of the average squared difference between predicted and actual prices. </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Evaluates the accuracy of the model's predictions on historical data.</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solidFill>
                  <a:schemeClr val="accent1"/>
                </a:solidFill>
                <a:latin typeface="Times New Roman" panose="02020603050405020304" pitchFamily="18" charset="0"/>
                <a:cs typeface="Times New Roman" panose="02020603050405020304" pitchFamily="18" charset="0"/>
              </a:rPr>
              <a:t>6.</a:t>
            </a:r>
            <a:r>
              <a:rPr lang="en-US" sz="2000" b="1" i="0" dirty="0">
                <a:solidFill>
                  <a:schemeClr val="accent1"/>
                </a:solidFill>
                <a:effectLst/>
                <a:latin typeface="Times New Roman" panose="02020603050405020304" pitchFamily="18" charset="0"/>
                <a:cs typeface="Times New Roman" panose="02020603050405020304" pitchFamily="18" charset="0"/>
              </a:rPr>
              <a:t> Search Functionality :</a:t>
            </a:r>
          </a:p>
          <a:p>
            <a:pPr algn="just">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Algorithm</a:t>
            </a:r>
            <a:r>
              <a:rPr lang="en-US" sz="2000" b="0" i="0" dirty="0">
                <a:effectLst/>
                <a:latin typeface="Times New Roman" panose="02020603050405020304" pitchFamily="18" charset="0"/>
                <a:cs typeface="Times New Roman" panose="02020603050405020304" pitchFamily="18" charset="0"/>
              </a:rPr>
              <a:t>:</a:t>
            </a:r>
            <a:r>
              <a:rPr lang="en-US" sz="2000" b="0" i="0" dirty="0">
                <a:solidFill>
                  <a:schemeClr val="accent1"/>
                </a:solidFill>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String Matching</a:t>
            </a:r>
          </a:p>
          <a:p>
            <a:pPr algn="just">
              <a:spcBef>
                <a:spcPts val="300"/>
              </a:spcBef>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Purpose</a:t>
            </a:r>
            <a:r>
              <a:rPr lang="en-US" sz="2000" b="0" i="0" dirty="0">
                <a:effectLst/>
                <a:latin typeface="Times New Roman" panose="02020603050405020304" pitchFamily="18" charset="0"/>
                <a:cs typeface="Times New Roman" panose="02020603050405020304" pitchFamily="18" charset="0"/>
              </a:rPr>
              <a:t>: Allows users to search for stocks by name or symbol.</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4282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A7110-EACF-BCEA-D962-2F1E292D5FB1}"/>
              </a:ext>
            </a:extLst>
          </p:cNvPr>
          <p:cNvSpPr>
            <a:spLocks noGrp="1"/>
          </p:cNvSpPr>
          <p:nvPr>
            <p:ph type="title"/>
          </p:nvPr>
        </p:nvSpPr>
        <p:spPr>
          <a:xfrm>
            <a:off x="533400" y="7536"/>
            <a:ext cx="7924800" cy="780288"/>
          </a:xfrm>
        </p:spPr>
        <p:txBody>
          <a:bodyPr>
            <a:normAutofit/>
          </a:bodyPr>
          <a:lstStyle/>
          <a:p>
            <a:pPr algn="ctr"/>
            <a:r>
              <a:rPr lang="en-US" sz="3600" b="1" dirty="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2EC3B6-A705-DE5C-1A22-AED50D0883D7}"/>
              </a:ext>
            </a:extLst>
          </p:cNvPr>
          <p:cNvSpPr>
            <a:spLocks noGrp="1"/>
          </p:cNvSpPr>
          <p:nvPr>
            <p:ph idx="1"/>
          </p:nvPr>
        </p:nvSpPr>
        <p:spPr>
          <a:xfrm>
            <a:off x="190500" y="807921"/>
            <a:ext cx="8610600" cy="5562600"/>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a:solidFill>
                  <a:schemeClr val="accent1"/>
                </a:solidFill>
                <a:latin typeface="Times New Roman" panose="02020603050405020304" pitchFamily="18" charset="0"/>
                <a:cs typeface="Times New Roman" panose="02020603050405020304" pitchFamily="18" charset="0"/>
              </a:rPr>
              <a:t>1.Data fetching  &amp; manipulation :</a:t>
            </a:r>
          </a:p>
          <a:p>
            <a:pPr marL="0" indent="0" algn="just">
              <a:buNone/>
            </a:pPr>
            <a:r>
              <a:rPr lang="en-US" sz="1800" b="1" dirty="0">
                <a:solidFill>
                  <a:schemeClr val="accent1"/>
                </a:solidFill>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y finance (Yahoo Finance)</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Purpose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To fetch real-time  stock data. </a:t>
            </a:r>
          </a:p>
          <a:p>
            <a:pPr marL="0" indent="0" algn="just">
              <a:buNone/>
            </a:pPr>
            <a:r>
              <a:rPr lang="en-US" sz="1800" b="1" dirty="0">
                <a:solidFill>
                  <a:schemeClr val="accent1"/>
                </a:solidFill>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Pandas (Data manipulation)</a:t>
            </a:r>
          </a:p>
          <a:p>
            <a:pPr marL="0" indent="0" algn="just">
              <a:buNone/>
            </a:pPr>
            <a:r>
              <a:rPr lang="en-US" sz="1800" dirty="0">
                <a:latin typeface="Times New Roman" panose="02020603050405020304" pitchFamily="18" charset="0"/>
                <a:cs typeface="Times New Roman" panose="02020603050405020304" pitchFamily="18" charset="0"/>
              </a:rPr>
              <a:t>         Purpose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For handling data, specifically for Data Frames, and time series data.</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a:solidFill>
                  <a:schemeClr val="accent1"/>
                </a:solidFill>
                <a:latin typeface="Times New Roman" panose="02020603050405020304" pitchFamily="18" charset="0"/>
                <a:cs typeface="Times New Roman" panose="02020603050405020304" pitchFamily="18" charset="0"/>
              </a:rPr>
              <a:t>2.Data preprocessing:</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a:solidFill>
                  <a:schemeClr val="accent1"/>
                </a:solidFill>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Num Py (Numerical operations)</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Purpose:</a:t>
            </a:r>
            <a:r>
              <a:rPr lang="en-US" sz="1800" dirty="0">
                <a:solidFill>
                  <a:schemeClr val="accent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Used for efficient array handling , especially for data preprocessing  </a:t>
            </a:r>
          </a:p>
          <a:p>
            <a:pPr marL="0" indent="0" algn="just">
              <a:buNone/>
            </a:pPr>
            <a:r>
              <a:rPr lang="en-US" sz="1800" dirty="0">
                <a:latin typeface="Times New Roman" panose="02020603050405020304" pitchFamily="18" charset="0"/>
                <a:cs typeface="Times New Roman" panose="02020603050405020304" pitchFamily="18" charset="0"/>
              </a:rPr>
              <a:t>         and  transformations                            </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Sklearn</a:t>
            </a:r>
            <a:r>
              <a:rPr lang="en-US" sz="1800" b="1" dirty="0">
                <a:latin typeface="Times New Roman" panose="02020603050405020304" pitchFamily="18" charset="0"/>
                <a:cs typeface="Times New Roman" panose="02020603050405020304" pitchFamily="18" charset="0"/>
              </a:rPr>
              <a:t> (Scikit-learn)</a:t>
            </a:r>
          </a:p>
          <a:p>
            <a:pPr marL="0" indent="0" algn="just">
              <a:buNone/>
            </a:pPr>
            <a:r>
              <a:rPr lang="en-US" sz="1800" dirty="0">
                <a:latin typeface="Times New Roman" panose="02020603050405020304" pitchFamily="18" charset="0"/>
                <a:cs typeface="Times New Roman" panose="02020603050405020304" pitchFamily="18" charset="0"/>
              </a:rPr>
              <a:t>         Purpose:</a:t>
            </a:r>
            <a:r>
              <a:rPr lang="en-US" sz="1800" dirty="0">
                <a:solidFill>
                  <a:schemeClr val="accent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For data preprocessing and evaluation metrics.</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a:solidFill>
                  <a:schemeClr val="accent1"/>
                </a:solidFill>
                <a:latin typeface="Times New Roman" panose="02020603050405020304" pitchFamily="18" charset="0"/>
                <a:cs typeface="Times New Roman" panose="02020603050405020304" pitchFamily="18" charset="0"/>
              </a:rPr>
              <a:t>3.Training &amp; validation</a:t>
            </a:r>
          </a:p>
          <a:p>
            <a:pPr marL="0" indent="0" algn="just">
              <a:buNone/>
            </a:pPr>
            <a:r>
              <a:rPr lang="en-US" sz="1800"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Keras</a:t>
            </a:r>
            <a:r>
              <a:rPr lang="en-US" sz="1800" b="1" dirty="0">
                <a:latin typeface="Times New Roman" panose="02020603050405020304" pitchFamily="18" charset="0"/>
                <a:cs typeface="Times New Roman" panose="02020603050405020304" pitchFamily="18" charset="0"/>
              </a:rPr>
              <a:t> (Deep learning)</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Purpose: For building and training the LSTM model.</a:t>
            </a:r>
          </a:p>
          <a:p>
            <a:pPr marL="0" indent="0" algn="just">
              <a:buNone/>
            </a:pPr>
            <a:r>
              <a:rPr lang="en-US" sz="1800" b="1" dirty="0">
                <a:latin typeface="Times New Roman" panose="02020603050405020304" pitchFamily="18" charset="0"/>
                <a:cs typeface="Times New Roman" panose="02020603050405020304" pitchFamily="18" charset="0"/>
              </a:rPr>
              <a:t>         Matplotlib (Plotting)</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Purpose: To visualize data and plot graphs such as loss curves and predicted stock</a:t>
            </a:r>
          </a:p>
          <a:p>
            <a:pPr marL="0" indent="0" algn="just">
              <a:buNone/>
            </a:pPr>
            <a:r>
              <a:rPr lang="en-US" sz="1800" dirty="0">
                <a:latin typeface="Times New Roman" panose="02020603050405020304" pitchFamily="18" charset="0"/>
                <a:cs typeface="Times New Roman" panose="02020603050405020304" pitchFamily="18" charset="0"/>
              </a:rPr>
              <a:t>         prices.</a:t>
            </a:r>
          </a:p>
        </p:txBody>
      </p:sp>
    </p:spTree>
    <p:extLst>
      <p:ext uri="{BB962C8B-B14F-4D97-AF65-F5344CB8AC3E}">
        <p14:creationId xmlns:p14="http://schemas.microsoft.com/office/powerpoint/2010/main" val="21498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DB326-4B5B-D3CF-9146-59BDBCDB3860}"/>
              </a:ext>
            </a:extLst>
          </p:cNvPr>
          <p:cNvSpPr>
            <a:spLocks noGrp="1"/>
          </p:cNvSpPr>
          <p:nvPr>
            <p:ph type="title"/>
          </p:nvPr>
        </p:nvSpPr>
        <p:spPr>
          <a:xfrm>
            <a:off x="381000" y="990600"/>
            <a:ext cx="8305800" cy="609600"/>
          </a:xfrm>
        </p:spPr>
        <p:txBody>
          <a:bodyPr>
            <a:noAutofit/>
          </a:bodyPr>
          <a:lstStyle/>
          <a:p>
            <a:pPr algn="ctr"/>
            <a:r>
              <a:rPr lang="en-US" sz="3600" b="1" dirty="0">
                <a:latin typeface="Times New Roman" panose="02020603050405020304" pitchFamily="18" charset="0"/>
                <a:cs typeface="Times New Roman" panose="02020603050405020304" pitchFamily="18" charset="0"/>
              </a:rPr>
              <a:t>CLASS DIAGRAM</a:t>
            </a:r>
            <a:br>
              <a:rPr lang="en-US" sz="3600" b="1" dirty="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pic>
        <p:nvPicPr>
          <p:cNvPr id="13" name="Content Placeholder 12" descr="A diagram of a computer&#10;&#10;Description automatically generated">
            <a:extLst>
              <a:ext uri="{FF2B5EF4-FFF2-40B4-BE49-F238E27FC236}">
                <a16:creationId xmlns:a16="http://schemas.microsoft.com/office/drawing/2014/main" id="{C798C63D-942D-8739-159D-76229B46E9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500" y="1371600"/>
            <a:ext cx="7924800" cy="4800600"/>
          </a:xfrm>
        </p:spPr>
      </p:pic>
    </p:spTree>
    <p:extLst>
      <p:ext uri="{BB962C8B-B14F-4D97-AF65-F5344CB8AC3E}">
        <p14:creationId xmlns:p14="http://schemas.microsoft.com/office/powerpoint/2010/main" val="261972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E863A-5F78-0D5F-73A7-2B6518805F6B}"/>
              </a:ext>
            </a:extLst>
          </p:cNvPr>
          <p:cNvSpPr>
            <a:spLocks noGrp="1"/>
          </p:cNvSpPr>
          <p:nvPr>
            <p:ph type="title"/>
          </p:nvPr>
        </p:nvSpPr>
        <p:spPr>
          <a:xfrm>
            <a:off x="457200" y="228600"/>
            <a:ext cx="8153400" cy="667512"/>
          </a:xfrm>
        </p:spPr>
        <p:txBody>
          <a:bodyPr>
            <a:normAutofit/>
          </a:bodyPr>
          <a:lstStyle/>
          <a:p>
            <a:pPr algn="ctr"/>
            <a:r>
              <a:rPr lang="en-US" sz="3600" b="1" dirty="0">
                <a:latin typeface="Times New Roman" panose="02020603050405020304" pitchFamily="18" charset="0"/>
                <a:cs typeface="Times New Roman" panose="02020603050405020304" pitchFamily="18" charset="0"/>
              </a:rPr>
              <a:t>USE CASE DIAGRAM</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descr="A diagram of a stock price prediction website">
            <a:extLst>
              <a:ext uri="{FF2B5EF4-FFF2-40B4-BE49-F238E27FC236}">
                <a16:creationId xmlns:a16="http://schemas.microsoft.com/office/drawing/2014/main" id="{84C803C2-2804-6CB9-DA86-60E681033C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295401"/>
            <a:ext cx="6858000" cy="4876800"/>
          </a:xfrm>
        </p:spPr>
      </p:pic>
    </p:spTree>
    <p:extLst>
      <p:ext uri="{BB962C8B-B14F-4D97-AF65-F5344CB8AC3E}">
        <p14:creationId xmlns:p14="http://schemas.microsoft.com/office/powerpoint/2010/main" val="3130940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EA0FC-8BF6-620E-E82A-554A82E35336}"/>
              </a:ext>
            </a:extLst>
          </p:cNvPr>
          <p:cNvSpPr>
            <a:spLocks noGrp="1"/>
          </p:cNvSpPr>
          <p:nvPr>
            <p:ph type="title"/>
          </p:nvPr>
        </p:nvSpPr>
        <p:spPr>
          <a:xfrm>
            <a:off x="457200" y="152400"/>
            <a:ext cx="8153400" cy="591312"/>
          </a:xfrm>
        </p:spPr>
        <p:txBody>
          <a:bodyPr>
            <a:noAutofit/>
          </a:bodyPr>
          <a:lstStyle/>
          <a:p>
            <a:pPr algn="ctr"/>
            <a:r>
              <a:rPr lang="en-US" sz="3600" b="1" dirty="0">
                <a:latin typeface="Times New Roman" panose="02020603050405020304" pitchFamily="18" charset="0"/>
                <a:cs typeface="Times New Roman" panose="02020603050405020304" pitchFamily="18" charset="0"/>
              </a:rPr>
              <a:t>SEQUENCE DIAGRAM</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descr="A diagram of a software company&#10;&#10;Description automatically generated">
            <a:extLst>
              <a:ext uri="{FF2B5EF4-FFF2-40B4-BE49-F238E27FC236}">
                <a16:creationId xmlns:a16="http://schemas.microsoft.com/office/drawing/2014/main" id="{24B1F0B4-8FB2-551A-B8AD-752EDD53B7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66800"/>
            <a:ext cx="7772400" cy="5334000"/>
          </a:xfrm>
        </p:spPr>
      </p:pic>
    </p:spTree>
    <p:extLst>
      <p:ext uri="{BB962C8B-B14F-4D97-AF65-F5344CB8AC3E}">
        <p14:creationId xmlns:p14="http://schemas.microsoft.com/office/powerpoint/2010/main" val="3952663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0316-3C36-B3FE-8484-83C3B378522D}"/>
              </a:ext>
            </a:extLst>
          </p:cNvPr>
          <p:cNvSpPr>
            <a:spLocks noGrp="1"/>
          </p:cNvSpPr>
          <p:nvPr>
            <p:ph type="title"/>
          </p:nvPr>
        </p:nvSpPr>
        <p:spPr>
          <a:xfrm>
            <a:off x="419100" y="304800"/>
            <a:ext cx="8229600" cy="515112"/>
          </a:xfrm>
        </p:spPr>
        <p:txBody>
          <a:bodyPr>
            <a:noAutofit/>
          </a:bodyPr>
          <a:lstStyle/>
          <a:p>
            <a:pPr algn="ctr"/>
            <a:r>
              <a:rPr lang="en-US" sz="3600" b="1" dirty="0">
                <a:latin typeface="Times New Roman" panose="02020603050405020304" pitchFamily="18" charset="0"/>
                <a:cs typeface="Times New Roman" panose="02020603050405020304" pitchFamily="18" charset="0"/>
              </a:rPr>
              <a:t>ACTIVITY DIAGRAM</a:t>
            </a:r>
            <a:endParaRPr lang="en-IN" sz="3600" b="1" dirty="0">
              <a:latin typeface="Times New Roman" panose="02020603050405020304" pitchFamily="18" charset="0"/>
              <a:cs typeface="Times New Roman" panose="02020603050405020304" pitchFamily="18" charset="0"/>
            </a:endParaRPr>
          </a:p>
        </p:txBody>
      </p:sp>
      <p:pic>
        <p:nvPicPr>
          <p:cNvPr id="9" name="Content Placeholder 8" descr="A diagram of a process&#10;&#10;Description automatically generated">
            <a:extLst>
              <a:ext uri="{FF2B5EF4-FFF2-40B4-BE49-F238E27FC236}">
                <a16:creationId xmlns:a16="http://schemas.microsoft.com/office/drawing/2014/main" id="{47DFC3D4-807F-BF10-7738-1FD2FED78E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0" y="1143000"/>
            <a:ext cx="5257800" cy="5257800"/>
          </a:xfrm>
        </p:spPr>
      </p:pic>
    </p:spTree>
    <p:extLst>
      <p:ext uri="{BB962C8B-B14F-4D97-AF65-F5344CB8AC3E}">
        <p14:creationId xmlns:p14="http://schemas.microsoft.com/office/powerpoint/2010/main" val="2544604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AE65-D17A-20E5-37C3-B74D79D6BC3F}"/>
              </a:ext>
            </a:extLst>
          </p:cNvPr>
          <p:cNvSpPr>
            <a:spLocks noGrp="1"/>
          </p:cNvSpPr>
          <p:nvPr>
            <p:ph type="title"/>
          </p:nvPr>
        </p:nvSpPr>
        <p:spPr>
          <a:xfrm>
            <a:off x="304800" y="275844"/>
            <a:ext cx="8305800" cy="515112"/>
          </a:xfrm>
        </p:spPr>
        <p:txBody>
          <a:bodyPr>
            <a:noAutofit/>
          </a:bodyPr>
          <a:lstStyle/>
          <a:p>
            <a:pPr algn="ctr"/>
            <a:r>
              <a:rPr lang="en-US" sz="3600" b="1" dirty="0">
                <a:latin typeface="Times New Roman" panose="02020603050405020304" pitchFamily="18" charset="0"/>
                <a:cs typeface="Times New Roman" panose="02020603050405020304" pitchFamily="18" charset="0"/>
              </a:rPr>
              <a:t> DEPLOYMENT DIAGRAM</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descr="A diagram of a computer server&#10;&#10;Description automatically generated">
            <a:extLst>
              <a:ext uri="{FF2B5EF4-FFF2-40B4-BE49-F238E27FC236}">
                <a16:creationId xmlns:a16="http://schemas.microsoft.com/office/drawing/2014/main" id="{25966EF9-29A9-57EF-42AB-09853CA51E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447800"/>
            <a:ext cx="7671648" cy="4389437"/>
          </a:xfrm>
        </p:spPr>
      </p:pic>
    </p:spTree>
    <p:extLst>
      <p:ext uri="{BB962C8B-B14F-4D97-AF65-F5344CB8AC3E}">
        <p14:creationId xmlns:p14="http://schemas.microsoft.com/office/powerpoint/2010/main" val="247860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3865FE-1FB1-0AA3-A51C-3404434AB370}"/>
              </a:ext>
            </a:extLst>
          </p:cNvPr>
          <p:cNvSpPr txBox="1"/>
          <p:nvPr/>
        </p:nvSpPr>
        <p:spPr>
          <a:xfrm>
            <a:off x="390330" y="170557"/>
            <a:ext cx="5781869" cy="584775"/>
          </a:xfrm>
          <a:prstGeom prst="rect">
            <a:avLst/>
          </a:prstGeom>
          <a:noFill/>
        </p:spPr>
        <p:txBody>
          <a:bodyPr wrap="square">
            <a:spAutoFit/>
          </a:bodyPr>
          <a:lstStyle/>
          <a:p>
            <a:r>
              <a:rPr lang="en-IN" sz="3200" b="1" dirty="0">
                <a:solidFill>
                  <a:schemeClr val="tx2"/>
                </a:solidFill>
              </a:rPr>
              <a:t>SAMPLE</a:t>
            </a:r>
            <a:r>
              <a:rPr lang="en-IN" dirty="0"/>
              <a:t> </a:t>
            </a:r>
            <a:r>
              <a:rPr lang="en-IN" sz="3200" b="1" dirty="0">
                <a:solidFill>
                  <a:schemeClr val="tx2"/>
                </a:solidFill>
              </a:rPr>
              <a:t>CODE</a:t>
            </a:r>
            <a:r>
              <a:rPr lang="en-IN" dirty="0"/>
              <a:t> </a:t>
            </a:r>
            <a:r>
              <a:rPr lang="en-IN" sz="3200" b="1" dirty="0">
                <a:solidFill>
                  <a:schemeClr val="tx2"/>
                </a:solidFill>
              </a:rPr>
              <a:t>SNIPPET</a:t>
            </a:r>
          </a:p>
        </p:txBody>
      </p:sp>
      <p:sp>
        <p:nvSpPr>
          <p:cNvPr id="4" name="TextBox 3">
            <a:extLst>
              <a:ext uri="{FF2B5EF4-FFF2-40B4-BE49-F238E27FC236}">
                <a16:creationId xmlns:a16="http://schemas.microsoft.com/office/drawing/2014/main" id="{018382B0-B61C-A1F5-3499-64E592E06FA5}"/>
              </a:ext>
            </a:extLst>
          </p:cNvPr>
          <p:cNvSpPr txBox="1"/>
          <p:nvPr/>
        </p:nvSpPr>
        <p:spPr>
          <a:xfrm>
            <a:off x="390330" y="838200"/>
            <a:ext cx="8067870" cy="5632311"/>
          </a:xfrm>
          <a:prstGeom prst="rect">
            <a:avLst/>
          </a:prstGeom>
          <a:noFill/>
        </p:spPr>
        <p:txBody>
          <a:bodyPr wrap="square">
            <a:spAutoFit/>
          </a:bodyPr>
          <a:lstStyle/>
          <a:p>
            <a:r>
              <a:rPr lang="en-IN" dirty="0"/>
              <a:t>class </a:t>
            </a:r>
            <a:r>
              <a:rPr lang="en-IN" dirty="0" err="1"/>
              <a:t>StockPredictor</a:t>
            </a:r>
            <a:r>
              <a:rPr lang="en-IN" dirty="0"/>
              <a:t>:</a:t>
            </a:r>
          </a:p>
          <a:p>
            <a:r>
              <a:rPr lang="en-IN" dirty="0"/>
              <a:t>    def </a:t>
            </a:r>
            <a:r>
              <a:rPr lang="en-IN" dirty="0" err="1"/>
              <a:t>predict_price</a:t>
            </a:r>
            <a:r>
              <a:rPr lang="en-IN" dirty="0"/>
              <a:t>(self, data, scaler, days):</a:t>
            </a:r>
          </a:p>
          <a:p>
            <a:r>
              <a:rPr lang="en-IN" dirty="0"/>
              <a:t>        # LSTM based prediction</a:t>
            </a:r>
          </a:p>
          <a:p>
            <a:r>
              <a:rPr lang="en-IN" dirty="0"/>
              <a:t>         X, y = [], []</a:t>
            </a:r>
          </a:p>
          <a:p>
            <a:r>
              <a:rPr lang="en-IN" dirty="0"/>
              <a:t>         lookback = 30</a:t>
            </a:r>
          </a:p>
          <a:p>
            <a:r>
              <a:rPr lang="en-IN" dirty="0"/>
              <a:t>         for </a:t>
            </a:r>
            <a:r>
              <a:rPr lang="en-IN" dirty="0" err="1"/>
              <a:t>i</a:t>
            </a:r>
            <a:r>
              <a:rPr lang="en-IN" dirty="0"/>
              <a:t> in range(lookback, </a:t>
            </a:r>
            <a:r>
              <a:rPr lang="en-IN" dirty="0" err="1"/>
              <a:t>len</a:t>
            </a:r>
            <a:r>
              <a:rPr lang="en-IN" dirty="0"/>
              <a:t>(data) - days):</a:t>
            </a:r>
          </a:p>
          <a:p>
            <a:r>
              <a:rPr lang="en-IN" dirty="0"/>
              <a:t>            </a:t>
            </a:r>
            <a:r>
              <a:rPr lang="en-IN" dirty="0" err="1"/>
              <a:t>X.append</a:t>
            </a:r>
            <a:r>
              <a:rPr lang="en-IN" dirty="0"/>
              <a:t>(data[</a:t>
            </a:r>
            <a:r>
              <a:rPr lang="en-IN" dirty="0" err="1"/>
              <a:t>i-lookback:i</a:t>
            </a:r>
            <a:r>
              <a:rPr lang="en-IN" dirty="0"/>
              <a:t>, 0])</a:t>
            </a:r>
          </a:p>
          <a:p>
            <a:r>
              <a:rPr lang="en-IN" dirty="0"/>
              <a:t>            </a:t>
            </a:r>
            <a:r>
              <a:rPr lang="en-IN" dirty="0" err="1"/>
              <a:t>y.append</a:t>
            </a:r>
            <a:r>
              <a:rPr lang="en-IN" dirty="0"/>
              <a:t>(data[</a:t>
            </a:r>
            <a:r>
              <a:rPr lang="en-IN" dirty="0" err="1"/>
              <a:t>i:i+days</a:t>
            </a:r>
            <a:r>
              <a:rPr lang="en-IN" dirty="0"/>
              <a:t>, 0])</a:t>
            </a:r>
          </a:p>
          <a:p>
            <a:r>
              <a:rPr lang="en-IN" dirty="0"/>
              <a:t>         X, y = </a:t>
            </a:r>
            <a:r>
              <a:rPr lang="en-IN" dirty="0" err="1"/>
              <a:t>np.array</a:t>
            </a:r>
            <a:r>
              <a:rPr lang="en-IN" dirty="0"/>
              <a:t>(X), </a:t>
            </a:r>
            <a:r>
              <a:rPr lang="en-IN" dirty="0" err="1"/>
              <a:t>np.array</a:t>
            </a:r>
            <a:r>
              <a:rPr lang="en-IN" dirty="0"/>
              <a:t>(y)</a:t>
            </a:r>
          </a:p>
          <a:p>
            <a:r>
              <a:rPr lang="en-IN" dirty="0"/>
              <a:t>         X = </a:t>
            </a:r>
            <a:r>
              <a:rPr lang="en-IN" dirty="0" err="1"/>
              <a:t>X.reshape</a:t>
            </a:r>
            <a:r>
              <a:rPr lang="en-IN" dirty="0"/>
              <a:t>((</a:t>
            </a:r>
            <a:r>
              <a:rPr lang="en-IN" dirty="0" err="1"/>
              <a:t>X.shape</a:t>
            </a:r>
            <a:r>
              <a:rPr lang="en-IN" dirty="0"/>
              <a:t>[0], </a:t>
            </a:r>
            <a:r>
              <a:rPr lang="en-IN" dirty="0" err="1"/>
              <a:t>X.shape</a:t>
            </a:r>
            <a:r>
              <a:rPr lang="en-IN" dirty="0"/>
              <a:t>[1], 1))</a:t>
            </a:r>
          </a:p>
          <a:p>
            <a:r>
              <a:rPr lang="en-IN" dirty="0"/>
              <a:t>         model = Sequential([</a:t>
            </a:r>
          </a:p>
          <a:p>
            <a:r>
              <a:rPr lang="en-IN" dirty="0"/>
              <a:t>            LSTM(50, </a:t>
            </a:r>
            <a:r>
              <a:rPr lang="en-IN" dirty="0" err="1"/>
              <a:t>return_sequences</a:t>
            </a:r>
            <a:r>
              <a:rPr lang="en-IN" dirty="0"/>
              <a:t>=True),</a:t>
            </a:r>
          </a:p>
          <a:p>
            <a:r>
              <a:rPr lang="en-IN" dirty="0"/>
              <a:t>            LSTM(50),</a:t>
            </a:r>
          </a:p>
          <a:p>
            <a:r>
              <a:rPr lang="en-IN" dirty="0"/>
              <a:t>            Dense(days)</a:t>
            </a:r>
          </a:p>
          <a:p>
            <a:r>
              <a:rPr lang="en-IN" dirty="0"/>
              <a:t>        ])</a:t>
            </a:r>
          </a:p>
          <a:p>
            <a:r>
              <a:rPr lang="en-IN" dirty="0"/>
              <a:t>        </a:t>
            </a:r>
            <a:r>
              <a:rPr lang="en-IN" dirty="0" err="1"/>
              <a:t>model.compile</a:t>
            </a:r>
            <a:r>
              <a:rPr lang="en-IN" dirty="0"/>
              <a:t>(optimizer='</a:t>
            </a:r>
            <a:r>
              <a:rPr lang="en-IN" dirty="0" err="1"/>
              <a:t>adam</a:t>
            </a:r>
            <a:r>
              <a:rPr lang="en-IN" dirty="0"/>
              <a:t>', loss='</a:t>
            </a:r>
            <a:r>
              <a:rPr lang="en-IN" dirty="0" err="1"/>
              <a:t>mse</a:t>
            </a:r>
            <a:r>
              <a:rPr lang="en-IN" dirty="0"/>
              <a:t>')</a:t>
            </a:r>
          </a:p>
          <a:p>
            <a:r>
              <a:rPr lang="en-IN" dirty="0"/>
              <a:t>        </a:t>
            </a:r>
            <a:r>
              <a:rPr lang="en-IN" dirty="0" err="1"/>
              <a:t>model.fit</a:t>
            </a:r>
            <a:r>
              <a:rPr lang="en-IN" dirty="0"/>
              <a:t>(X, y, epochs=5, verbose=0)</a:t>
            </a:r>
          </a:p>
          <a:p>
            <a:r>
              <a:rPr lang="en-IN" dirty="0"/>
              <a:t>        </a:t>
            </a:r>
            <a:r>
              <a:rPr lang="en-IN" dirty="0" err="1"/>
              <a:t>last_data</a:t>
            </a:r>
            <a:r>
              <a:rPr lang="en-IN" dirty="0"/>
              <a:t> = data[-lookback:].reshape(1, lookback, 1)</a:t>
            </a:r>
          </a:p>
          <a:p>
            <a:r>
              <a:rPr lang="en-IN" dirty="0"/>
              <a:t>        pred = </a:t>
            </a:r>
            <a:r>
              <a:rPr lang="en-IN" dirty="0" err="1"/>
              <a:t>model.predict</a:t>
            </a:r>
            <a:r>
              <a:rPr lang="en-IN" dirty="0"/>
              <a:t>(</a:t>
            </a:r>
            <a:r>
              <a:rPr lang="en-IN" dirty="0" err="1"/>
              <a:t>last_data</a:t>
            </a:r>
            <a:r>
              <a:rPr lang="en-IN" dirty="0"/>
              <a:t>)</a:t>
            </a:r>
          </a:p>
          <a:p>
            <a:r>
              <a:rPr lang="en-IN" dirty="0"/>
              <a:t>        return </a:t>
            </a:r>
            <a:r>
              <a:rPr lang="en-IN" dirty="0" err="1"/>
              <a:t>scaler.inverse_transform</a:t>
            </a:r>
            <a:r>
              <a:rPr lang="en-IN" dirty="0"/>
              <a:t>(</a:t>
            </a:r>
            <a:r>
              <a:rPr lang="en-IN" dirty="0" err="1"/>
              <a:t>pred.reshape</a:t>
            </a:r>
            <a:r>
              <a:rPr lang="en-IN" dirty="0"/>
              <a:t>(-1, 1))</a:t>
            </a:r>
          </a:p>
        </p:txBody>
      </p:sp>
    </p:spTree>
    <p:extLst>
      <p:ext uri="{BB962C8B-B14F-4D97-AF65-F5344CB8AC3E}">
        <p14:creationId xmlns:p14="http://schemas.microsoft.com/office/powerpoint/2010/main" val="862731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684194-744F-F2B5-A751-B6DAAFE25A89}"/>
              </a:ext>
            </a:extLst>
          </p:cNvPr>
          <p:cNvSpPr txBox="1"/>
          <p:nvPr/>
        </p:nvSpPr>
        <p:spPr>
          <a:xfrm>
            <a:off x="533400" y="1219200"/>
            <a:ext cx="4267200" cy="5078313"/>
          </a:xfrm>
          <a:prstGeom prst="rect">
            <a:avLst/>
          </a:prstGeom>
          <a:noFill/>
        </p:spPr>
        <p:txBody>
          <a:bodyPr wrap="square">
            <a:spAutoFit/>
          </a:bodyPr>
          <a:lstStyle/>
          <a:p>
            <a:r>
              <a:rPr lang="en-IN" dirty="0"/>
              <a:t># Fetch stock data</a:t>
            </a:r>
          </a:p>
          <a:p>
            <a:r>
              <a:rPr lang="en-IN" dirty="0"/>
              <a:t>data = </a:t>
            </a:r>
            <a:r>
              <a:rPr lang="en-IN" dirty="0" err="1"/>
              <a:t>yf.download</a:t>
            </a:r>
            <a:r>
              <a:rPr lang="en-IN" dirty="0"/>
              <a:t>(symbol, period="2y")</a:t>
            </a:r>
          </a:p>
          <a:p>
            <a:endParaRPr lang="en-IN" dirty="0"/>
          </a:p>
          <a:p>
            <a:r>
              <a:rPr lang="en-IN" dirty="0"/>
              <a:t># Extract closing prices</a:t>
            </a:r>
          </a:p>
          <a:p>
            <a:r>
              <a:rPr lang="en-IN" dirty="0"/>
              <a:t>close = data[['Close']].values</a:t>
            </a:r>
          </a:p>
          <a:p>
            <a:endParaRPr lang="en-IN" dirty="0"/>
          </a:p>
          <a:p>
            <a:r>
              <a:rPr lang="en-IN" dirty="0"/>
              <a:t># Scale data</a:t>
            </a:r>
          </a:p>
          <a:p>
            <a:r>
              <a:rPr lang="en-IN" dirty="0"/>
              <a:t>scaler = </a:t>
            </a:r>
            <a:r>
              <a:rPr lang="en-IN" dirty="0" err="1"/>
              <a:t>MinMaxScaler</a:t>
            </a:r>
            <a:r>
              <a:rPr lang="en-IN" dirty="0"/>
              <a:t>()</a:t>
            </a:r>
          </a:p>
          <a:p>
            <a:r>
              <a:rPr lang="en-IN" dirty="0" err="1"/>
              <a:t>scaled_data</a:t>
            </a:r>
            <a:r>
              <a:rPr lang="en-IN" dirty="0"/>
              <a:t> = </a:t>
            </a:r>
            <a:r>
              <a:rPr lang="en-IN" dirty="0" err="1"/>
              <a:t>scaler.fit_transform</a:t>
            </a:r>
            <a:r>
              <a:rPr lang="en-IN" dirty="0"/>
              <a:t>(close)</a:t>
            </a:r>
          </a:p>
          <a:p>
            <a:endParaRPr lang="en-IN" dirty="0"/>
          </a:p>
          <a:p>
            <a:r>
              <a:rPr lang="en-IN" dirty="0"/>
              <a:t># Predict</a:t>
            </a:r>
          </a:p>
          <a:p>
            <a:r>
              <a:rPr lang="en-IN" dirty="0"/>
              <a:t>predictions = </a:t>
            </a:r>
            <a:r>
              <a:rPr lang="en-IN" dirty="0" err="1"/>
              <a:t>predict_price</a:t>
            </a:r>
            <a:r>
              <a:rPr lang="en-IN" dirty="0"/>
              <a:t>(</a:t>
            </a:r>
            <a:r>
              <a:rPr lang="en-IN" dirty="0" err="1"/>
              <a:t>scaled_data</a:t>
            </a:r>
            <a:r>
              <a:rPr lang="en-IN" dirty="0"/>
              <a:t>, scaler, days)</a:t>
            </a:r>
          </a:p>
          <a:p>
            <a:endParaRPr lang="en-IN" dirty="0"/>
          </a:p>
          <a:p>
            <a:r>
              <a:rPr lang="en-IN" dirty="0"/>
              <a:t># Display results</a:t>
            </a:r>
          </a:p>
          <a:p>
            <a:r>
              <a:rPr lang="en-IN" dirty="0" err="1"/>
              <a:t>st.line_chart</a:t>
            </a:r>
            <a:r>
              <a:rPr lang="en-IN" dirty="0"/>
              <a:t>(predictions)</a:t>
            </a:r>
          </a:p>
          <a:p>
            <a:r>
              <a:rPr lang="en-IN" dirty="0" err="1"/>
              <a:t>st.metric</a:t>
            </a:r>
            <a:r>
              <a:rPr lang="en-IN" dirty="0"/>
              <a:t>("Last Price", close[-1][0])</a:t>
            </a:r>
          </a:p>
          <a:p>
            <a:r>
              <a:rPr lang="en-IN" dirty="0" err="1"/>
              <a:t>st.metric</a:t>
            </a:r>
            <a:r>
              <a:rPr lang="en-IN" dirty="0"/>
              <a:t>("Predicted", predictions[-1][0])</a:t>
            </a:r>
          </a:p>
        </p:txBody>
      </p:sp>
      <p:sp>
        <p:nvSpPr>
          <p:cNvPr id="5" name="TextBox 4">
            <a:extLst>
              <a:ext uri="{FF2B5EF4-FFF2-40B4-BE49-F238E27FC236}">
                <a16:creationId xmlns:a16="http://schemas.microsoft.com/office/drawing/2014/main" id="{0F4DB6CC-8B73-4781-E8F8-1E422B1C7408}"/>
              </a:ext>
            </a:extLst>
          </p:cNvPr>
          <p:cNvSpPr txBox="1"/>
          <p:nvPr/>
        </p:nvSpPr>
        <p:spPr>
          <a:xfrm>
            <a:off x="457200" y="304800"/>
            <a:ext cx="6400800" cy="646331"/>
          </a:xfrm>
          <a:prstGeom prst="rect">
            <a:avLst/>
          </a:prstGeom>
          <a:noFill/>
        </p:spPr>
        <p:txBody>
          <a:bodyPr wrap="square">
            <a:spAutoFit/>
          </a:bodyPr>
          <a:lstStyle/>
          <a:p>
            <a:r>
              <a:rPr lang="en-IN" sz="3600" dirty="0">
                <a:solidFill>
                  <a:schemeClr val="tx2"/>
                </a:solidFill>
              </a:rPr>
              <a:t>DATA FETCHING &amp; UI</a:t>
            </a:r>
          </a:p>
        </p:txBody>
      </p:sp>
    </p:spTree>
    <p:extLst>
      <p:ext uri="{BB962C8B-B14F-4D97-AF65-F5344CB8AC3E}">
        <p14:creationId xmlns:p14="http://schemas.microsoft.com/office/powerpoint/2010/main" val="125604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228600"/>
            <a:ext cx="8610600" cy="862781"/>
          </a:xfrm>
        </p:spPr>
        <p:txBody>
          <a:bodyPr>
            <a:normAutofit/>
          </a:bodyPr>
          <a:lstStyle/>
          <a:p>
            <a:pPr algn="ctr"/>
            <a:r>
              <a:rPr lang="en-US" sz="3600" b="1" dirty="0">
                <a:latin typeface="Times New Roman" panose="02020603050405020304" pitchFamily="18" charset="0"/>
                <a:cs typeface="Times New Roman" panose="02020603050405020304" pitchFamily="18" charset="0"/>
              </a:rPr>
              <a:t>RESULT</a:t>
            </a:r>
          </a:p>
        </p:txBody>
      </p:sp>
      <p:pic>
        <p:nvPicPr>
          <p:cNvPr id="8" name="Content Placeholder 7"/>
          <p:cNvPicPr>
            <a:picLocks noGrp="1" noChangeAspect="1"/>
          </p:cNvPicPr>
          <p:nvPr>
            <p:ph idx="1"/>
          </p:nvPr>
        </p:nvPicPr>
        <p:blipFill>
          <a:blip r:embed="rId2"/>
          <a:stretch>
            <a:fillRect/>
          </a:stretch>
        </p:blipFill>
        <p:spPr>
          <a:xfrm>
            <a:off x="838200" y="1447800"/>
            <a:ext cx="7543800" cy="449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39250" y="228960"/>
            <a:ext cx="8229600" cy="762000"/>
          </a:xfrm>
        </p:spPr>
        <p:txBody>
          <a:bodyPr>
            <a:normAutofit/>
          </a:bodyPr>
          <a:lstStyle/>
          <a:p>
            <a:pPr algn="ctr"/>
            <a:r>
              <a:rPr lang="en-US" sz="36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391166" y="1447800"/>
            <a:ext cx="8229600" cy="4389120"/>
          </a:xfrm>
        </p:spPr>
        <p:txBody>
          <a:bodyPr>
            <a:normAutofit/>
          </a:bodyPr>
          <a:lstStyle/>
          <a:p>
            <a:pPr algn="just">
              <a:buClr>
                <a:schemeClr val="tx1"/>
              </a:buClr>
            </a:pPr>
            <a:r>
              <a:rPr lang="en-US" sz="2400" dirty="0">
                <a:latin typeface="Times New Roman" panose="02020603050405020304" pitchFamily="18" charset="0"/>
                <a:cs typeface="Times New Roman" panose="02020603050405020304" pitchFamily="18" charset="0"/>
              </a:rPr>
              <a:t>In this project, we implemented an LSTM-based model for predicting stock prices and layers like dropout for preventing the overfitting. Through careful data preparation and model training, we aimed to enhance the accuracy of our predictions and provide accurate prices of stocks for investors.</a:t>
            </a:r>
          </a:p>
          <a:p>
            <a:pPr algn="just">
              <a:buClr>
                <a:schemeClr val="tx1"/>
              </a:buClr>
            </a:pPr>
            <a:endParaRPr lang="en-US" sz="2400" dirty="0">
              <a:latin typeface="Times New Roman" panose="02020603050405020304" pitchFamily="18" charset="0"/>
              <a:cs typeface="Times New Roman" panose="02020603050405020304" pitchFamily="18" charset="0"/>
            </a:endParaRPr>
          </a:p>
          <a:p>
            <a:pPr algn="just">
              <a:buClr>
                <a:schemeClr val="tx1"/>
              </a:buClr>
            </a:pPr>
            <a:r>
              <a:rPr lang="en-US" sz="2400" dirty="0">
                <a:latin typeface="Times New Roman" panose="02020603050405020304" pitchFamily="18" charset="0"/>
                <a:cs typeface="Times New Roman" panose="02020603050405020304" pitchFamily="18" charset="0"/>
              </a:rPr>
              <a:t>Overall, LSTM for stock price prediction highlights the potential of deep learning techniques in financial forecasting and accurate prediction of stocks</a:t>
            </a:r>
          </a:p>
        </p:txBody>
      </p:sp>
    </p:spTree>
    <p:extLst>
      <p:ext uri="{BB962C8B-B14F-4D97-AF65-F5344CB8AC3E}">
        <p14:creationId xmlns:p14="http://schemas.microsoft.com/office/powerpoint/2010/main" val="3467934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534400" cy="600671"/>
          </a:xfrm>
        </p:spPr>
        <p:txBody>
          <a:bodyPr>
            <a:normAutofit/>
          </a:bodyPr>
          <a:lstStyle/>
          <a:p>
            <a:pPr algn="ctr"/>
            <a:r>
              <a:rPr lang="en-US" sz="3600" b="1" dirty="0">
                <a:latin typeface="Times New Roman" panose="02020603050405020304" pitchFamily="18" charset="0"/>
                <a:cs typeface="Times New Roman" panose="02020603050405020304" pitchFamily="18" charset="0"/>
              </a:rPr>
              <a:t> FUTURE ENHANCEMENTS</a:t>
            </a:r>
          </a:p>
        </p:txBody>
      </p:sp>
      <p:sp>
        <p:nvSpPr>
          <p:cNvPr id="7" name="Rectangle 6"/>
          <p:cNvSpPr/>
          <p:nvPr/>
        </p:nvSpPr>
        <p:spPr>
          <a:xfrm>
            <a:off x="609600" y="1808352"/>
            <a:ext cx="7962900" cy="3785652"/>
          </a:xfrm>
          <a:prstGeom prst="rect">
            <a:avLst/>
          </a:prstGeom>
        </p:spPr>
        <p:txBody>
          <a:bodyPr wrap="square">
            <a:spAutoFit/>
          </a:bodyPr>
          <a:lstStyle/>
          <a:p>
            <a:pPr algn="just"/>
            <a:r>
              <a:rPr lang="en-GB" sz="2400" dirty="0">
                <a:solidFill>
                  <a:schemeClr val="accent2"/>
                </a:solidFill>
                <a:latin typeface="Times New Roman" panose="02020603050405020304" pitchFamily="18" charset="0"/>
                <a:cs typeface="Times New Roman" panose="02020603050405020304" pitchFamily="18" charset="0"/>
              </a:rPr>
              <a:t>Sentiment Analysis: </a:t>
            </a:r>
            <a:r>
              <a:rPr lang="en-GB" sz="2400" dirty="0">
                <a:latin typeface="Times New Roman" panose="02020603050405020304" pitchFamily="18" charset="0"/>
                <a:cs typeface="Times New Roman" panose="02020603050405020304" pitchFamily="18" charset="0"/>
              </a:rPr>
              <a:t>Using news headlines, social media trends and financial reports to gauge market sentiment and refine predictions.</a:t>
            </a:r>
          </a:p>
          <a:p>
            <a:pPr algn="just"/>
            <a:endParaRPr lang="en-GB" sz="2400" dirty="0">
              <a:latin typeface="Times New Roman" panose="02020603050405020304" pitchFamily="18" charset="0"/>
              <a:cs typeface="Times New Roman" panose="02020603050405020304" pitchFamily="18" charset="0"/>
            </a:endParaRPr>
          </a:p>
          <a:p>
            <a:r>
              <a:rPr lang="en-GB" sz="2400" dirty="0">
                <a:solidFill>
                  <a:schemeClr val="accent2"/>
                </a:solidFill>
                <a:latin typeface="Times New Roman" panose="02020603050405020304" pitchFamily="18" charset="0"/>
                <a:cs typeface="Times New Roman" panose="02020603050405020304" pitchFamily="18" charset="0"/>
              </a:rPr>
              <a:t>Hybrid Models : </a:t>
            </a:r>
            <a:r>
              <a:rPr lang="en-GB" sz="2400" dirty="0">
                <a:latin typeface="Times New Roman" panose="02020603050405020304" pitchFamily="18" charset="0"/>
                <a:cs typeface="Times New Roman" panose="02020603050405020304" pitchFamily="18" charset="0"/>
              </a:rPr>
              <a:t>Combining LSTM with other deep learning models like CNN or Transformer-based architectures for better feature extraction. </a:t>
            </a:r>
          </a:p>
          <a:p>
            <a:r>
              <a:rPr lang="en-GB" sz="2400" dirty="0">
                <a:solidFill>
                  <a:schemeClr val="accent2"/>
                </a:solidFill>
                <a:latin typeface="Times New Roman" panose="02020603050405020304" pitchFamily="18" charset="0"/>
                <a:cs typeface="Times New Roman" panose="02020603050405020304" pitchFamily="18" charset="0"/>
              </a:rPr>
              <a:t>                                                                                                                                                                 Cross-Market Analysis:  </a:t>
            </a:r>
            <a:r>
              <a:rPr lang="en-GB" sz="2400" dirty="0">
                <a:latin typeface="Times New Roman" panose="02020603050405020304" pitchFamily="18" charset="0"/>
                <a:cs typeface="Times New Roman" panose="02020603050405020304" pitchFamily="18" charset="0"/>
              </a:rPr>
              <a:t>Expanding the model to predict stock prices across multiple markets for diversified insights.</a:t>
            </a:r>
            <a:r>
              <a:rPr lang="en-GB" sz="2400" dirty="0">
                <a:solidFill>
                  <a:schemeClr val="accent2"/>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69991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371600"/>
            <a:ext cx="5562600" cy="3352800"/>
          </a:xfrm>
        </p:spPr>
        <p:txBody>
          <a:bodyPr/>
          <a:lstStyle/>
          <a:p>
            <a:pPr marL="0" indent="0">
              <a:buNone/>
            </a:pPr>
            <a:endParaRPr lang="en-GB" dirty="0"/>
          </a:p>
          <a:p>
            <a:pPr marL="0" indent="0">
              <a:buNone/>
            </a:pPr>
            <a:r>
              <a:rPr lang="en-GB" dirty="0"/>
              <a:t>                       </a:t>
            </a:r>
            <a:endParaRPr lang="en-GB" sz="4400" dirty="0"/>
          </a:p>
        </p:txBody>
      </p:sp>
      <p:sp>
        <p:nvSpPr>
          <p:cNvPr id="6" name="TextBox 5">
            <a:extLst>
              <a:ext uri="{FF2B5EF4-FFF2-40B4-BE49-F238E27FC236}">
                <a16:creationId xmlns:a16="http://schemas.microsoft.com/office/drawing/2014/main" id="{98AD2124-716B-6FB7-28B1-6664DA4D5624}"/>
              </a:ext>
            </a:extLst>
          </p:cNvPr>
          <p:cNvSpPr txBox="1"/>
          <p:nvPr/>
        </p:nvSpPr>
        <p:spPr>
          <a:xfrm>
            <a:off x="2286000" y="2819400"/>
            <a:ext cx="4572000" cy="923330"/>
          </a:xfrm>
          <a:prstGeom prst="rect">
            <a:avLst/>
          </a:prstGeom>
          <a:noFill/>
        </p:spPr>
        <p:txBody>
          <a:bodyPr wrap="square">
            <a:spAutoFit/>
          </a:bodyPr>
          <a:lstStyle/>
          <a:p>
            <a:pPr marL="0" indent="0" algn="ctr">
              <a:buNone/>
            </a:pPr>
            <a:r>
              <a:rPr lang="en-US" sz="5400" b="1" dirty="0">
                <a:solidFill>
                  <a:srgbClr val="0070C0"/>
                </a:solidFill>
                <a:latin typeface="Times New Roman" panose="02020603050405020304" pitchFamily="18" charset="0"/>
                <a:cs typeface="Times New Roman" panose="02020603050405020304" pitchFamily="18" charset="0"/>
                <a:sym typeface="+mn-ea"/>
              </a:rPr>
              <a:t>THANK YOU</a:t>
            </a:r>
            <a:endParaRPr lang="en-US" sz="54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116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3802</TotalTime>
  <Words>1684</Words>
  <Application>Microsoft Office PowerPoint</Application>
  <PresentationFormat>On-screen Show (4:3)</PresentationFormat>
  <Paragraphs>161</Paragraphs>
  <Slides>24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Constantia</vt:lpstr>
      <vt:lpstr>Times New Roman</vt:lpstr>
      <vt:lpstr>Wingdings</vt:lpstr>
      <vt:lpstr>Wingdings 2</vt:lpstr>
      <vt:lpstr>Flow</vt:lpstr>
      <vt:lpstr>PowerPoint Presentation</vt:lpstr>
      <vt:lpstr>ABSTRACT</vt:lpstr>
      <vt:lpstr>PowerPoint Presentation</vt:lpstr>
      <vt:lpstr>PowerPoint Presentation</vt:lpstr>
      <vt:lpstr>EXISTING SYSTEM</vt:lpstr>
      <vt:lpstr>DRAWBACKS OF EXISTING SYSTEM</vt:lpstr>
      <vt:lpstr>PROPOSED SYSTEM</vt:lpstr>
      <vt:lpstr>ADVANTAGES OF PROPOSED SYSTEM</vt:lpstr>
      <vt:lpstr>SYSTEMS ARCHITECTURE</vt:lpstr>
      <vt:lpstr>METHODOLOGY</vt:lpstr>
      <vt:lpstr>PowerPoint Presentation</vt:lpstr>
      <vt:lpstr>PowerPoint Presentation</vt:lpstr>
      <vt:lpstr>MODULES</vt:lpstr>
      <vt:lpstr>CLASS DIAGRAM </vt:lpstr>
      <vt:lpstr>USE CASE DIAGRAM</vt:lpstr>
      <vt:lpstr>SEQUENCE DIAGRAM</vt:lpstr>
      <vt:lpstr>ACTIVITY DIAGRAM</vt:lpstr>
      <vt:lpstr> DEPLOYMENT DIAGRAM</vt:lpstr>
      <vt:lpstr>PowerPoint Presentation</vt:lpstr>
      <vt:lpstr>PowerPoint Presentation</vt:lpstr>
      <vt:lpstr>RESULT</vt:lpstr>
      <vt:lpstr>CONCLUSION</vt:lpstr>
      <vt:lpstr> FUTURE ENHANCEMENTS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USING ML ALGORITHMS</dc:title>
  <dc:creator>Tru Projects</dc:creator>
  <cp:lastModifiedBy>RANJAN KUMAR PALLA</cp:lastModifiedBy>
  <cp:revision>392</cp:revision>
  <dcterms:created xsi:type="dcterms:W3CDTF">2006-08-16T00:00:00Z</dcterms:created>
  <dcterms:modified xsi:type="dcterms:W3CDTF">2026-04-21T07:16:50Z</dcterms:modified>
</cp:coreProperties>
</file>